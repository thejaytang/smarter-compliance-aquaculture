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01_0.xml" ContentType="application/vnd.ms-powerpoint.comments+xml"/>
  <Override PartName="/ppt/notesSlides/notesSlide3.xml" ContentType="application/vnd.openxmlformats-officedocument.presentationml.notesSlide+xml"/>
  <Override PartName="/ppt/comments/modernComment_14A_7C32FB1C.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68" r:id="rId4"/>
    <p:sldId id="330" r:id="rId5"/>
    <p:sldId id="258" r:id="rId6"/>
    <p:sldId id="259" r:id="rId7"/>
    <p:sldId id="260" r:id="rId8"/>
    <p:sldId id="261" r:id="rId9"/>
    <p:sldId id="262" r:id="rId10"/>
    <p:sldId id="263" r:id="rId11"/>
    <p:sldId id="264" r:id="rId12"/>
    <p:sldId id="265" r:id="rId13"/>
    <p:sldId id="267" r:id="rId14"/>
    <p:sldId id="266" r:id="rId15"/>
    <p:sldId id="331" r:id="rId16"/>
    <p:sldId id="332" r:id="rId17"/>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69ED641-99E1-1EB1-1758-1B386D9F1726}" name="Hannevik, Martine Berglund" initials="MH" userId="S::Martine.Hannevik@dnv.com::2454fea4-b1fc-4389-b18a-db9279e2470a" providerId="AD"/>
  <p188:author id="{EFC65460-1985-C973-59D1-7114C70BC42D}" name="Sadler, Christopher Steven (DNV External)" initials="SE" userId="S::christopher.steven.sadler@dnv.com::9ccb6d87-1dba-4e80-81ef-ff273dfbc590" providerId="AD"/>
  <p188:author id="{504C86A5-5195-1F4B-5637-48A62C081B13}" name="Andersen, Hogne" initials="AH" userId="S::hogne.andersen@dnv.com::5a98da17-86a4-45f2-9225-891c71dfecde" providerId="AD"/>
  <p188:author id="{7BED67BD-90E1-4149-605D-85FE0FC42A00}" name="Panchi, Nabil" initials="PN" userId="S::nabil.panchi@dnv.com::a7b4373f-ebb9-49ad-a07e-5da98ec6133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5BE18A-9CFD-4F2C-EFA3-8F0B4227AD06}" v="10" dt="2026-08-20T12:15:58.287"/>
    <p1510:client id="{3EAD6883-CB56-47CD-9B7D-261843301327}" v="1" dt="2026-08-20T06:51:33.337"/>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8" d="100"/>
          <a:sy n="38" d="100"/>
        </p:scale>
        <p:origin x="139"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omments/modernComment_14A_7C32FB1C.xml><?xml version="1.0" encoding="utf-8"?>
<p188:cmLst xmlns:a="http://schemas.openxmlformats.org/drawingml/2006/main" xmlns:r="http://schemas.openxmlformats.org/officeDocument/2006/relationships" xmlns:p188="http://schemas.microsoft.com/office/powerpoint/2018/8/main">
  <p188:cm id="{E813D635-5EAB-4CD9-B071-5645C6652D6E}" authorId="{B69ED641-99E1-1EB1-1758-1B386D9F1726}" created="2026-08-13T12:24:02.513">
    <ac:deMkLst xmlns:ac="http://schemas.microsoft.com/office/drawing/2013/main/command">
      <pc:docMk xmlns:pc="http://schemas.microsoft.com/office/powerpoint/2013/main/command"/>
      <pc:sldMk xmlns:pc="http://schemas.microsoft.com/office/powerpoint/2013/main/command" cId="2083715868" sldId="330"/>
      <ac:spMk id="30" creationId="{0673A6DE-1543-5509-9B6C-A1A486580428}"/>
    </ac:deMkLst>
    <p188:txBody>
      <a:bodyPr/>
      <a:lstStyle/>
      <a:p>
        <a:r>
          <a:rPr lang="en-GB"/>
          <a:t>We have better validation that there are five the five - in different combinations </a:t>
        </a:r>
      </a:p>
    </p188:txBody>
  </p188:cm>
  <p188:cm id="{6669CA67-331B-49CB-960C-2ABD7B2E2019}" authorId="{EFC65460-1985-C973-59D1-7114C70BC42D}" created="2026-08-13T12:58:09.537">
    <ac:deMkLst xmlns:ac="http://schemas.microsoft.com/office/drawing/2013/main/command">
      <pc:docMk xmlns:pc="http://schemas.microsoft.com/office/powerpoint/2013/main/command"/>
      <pc:sldMk xmlns:pc="http://schemas.microsoft.com/office/powerpoint/2013/main/command" cId="2083715868" sldId="330"/>
      <ac:spMk id="24" creationId="{FE6A50AA-7EC8-C3E7-2657-FE504E095B92}"/>
    </ac:deMkLst>
    <p188:txBody>
      <a:bodyPr/>
      <a:lstStyle/>
      <a:p>
        <a:r>
          <a:rPr lang="en-US"/>
          <a:t>should this on requiremnts coverage "Why prioritise" also include breifly that this is of most interest to the biggest companies?</a:t>
        </a:r>
      </a:p>
    </p188:txBody>
  </p188:cm>
  <p188:cm id="{40351903-2A20-4495-9400-60E91ACC46BF}" authorId="{504C86A5-5195-1F4B-5637-48A62C081B13}" status="resolved" created="2026-08-13T13:00:22.132">
    <ac:deMkLst xmlns:ac="http://schemas.microsoft.com/office/drawing/2013/main/command">
      <pc:docMk xmlns:pc="http://schemas.microsoft.com/office/powerpoint/2013/main/command"/>
      <pc:sldMk xmlns:pc="http://schemas.microsoft.com/office/powerpoint/2013/main/command" cId="2083715868" sldId="330"/>
      <ac:spMk id="29" creationId="{AE155356-3BBC-01E3-0969-5A062247827F}"/>
    </ac:deMkLst>
    <p188:txBody>
      <a:bodyPr/>
      <a:lstStyle/>
      <a:p>
        <a:r>
          <a:rPr lang="en-US"/>
          <a:t>"Customers increasingly expect to enter data once and reuse it across assurance, compliance, and operational workflows."</a:t>
        </a:r>
      </a:p>
    </p188:txBody>
  </p188:cm>
</p188:cmLst>
</file>

<file path=ppt/comments/modernComment_101_0.xml><?xml version="1.0" encoding="utf-8"?>
<p188:cmLst xmlns:a="http://schemas.openxmlformats.org/drawingml/2006/main" xmlns:r="http://schemas.openxmlformats.org/officeDocument/2006/relationships" xmlns:p188="http://schemas.microsoft.com/office/powerpoint/2018/8/main">
  <p188:cm id="{979C7B6C-2A92-433C-B7BA-BBACD97B20C4}" authorId="{7BED67BD-90E1-4149-605D-85FE0FC42A00}" created="2026-08-20T12:15:58.287">
    <ac:txMkLst xmlns:ac="http://schemas.microsoft.com/office/drawing/2013/main/command">
      <pc:docMk xmlns:pc="http://schemas.microsoft.com/office/powerpoint/2013/main/command"/>
      <pc:sldMk xmlns:pc="http://schemas.microsoft.com/office/powerpoint/2013/main/command" cId="0" sldId="257"/>
      <ac:spMk id="177" creationId="{00000000-0000-0000-0000-000000000000}"/>
      <ac:txMk cp="395" len="8">
        <ac:context len="554" hash="196659040"/>
      </ac:txMk>
    </ac:txMkLst>
    <p188:pos x="10681368" y="4184315"/>
    <p188:txBody>
      <a:bodyPr/>
      <a:lstStyle/>
      <a:p>
        <a:r>
          <a:rPr lang="en-US"/>
          <a:t>By the same structure.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8" name="Shape 168"/>
          <p:cNvSpPr>
            <a:spLocks noGrp="1" noRot="1" noChangeAspect="1"/>
          </p:cNvSpPr>
          <p:nvPr>
            <p:ph type="sldImg"/>
          </p:nvPr>
        </p:nvSpPr>
        <p:spPr>
          <a:xfrm>
            <a:off x="1143000" y="685800"/>
            <a:ext cx="4572000" cy="3429000"/>
          </a:xfrm>
          <a:prstGeom prst="rect">
            <a:avLst/>
          </a:prstGeom>
        </p:spPr>
        <p:txBody>
          <a:bodyPr/>
          <a:lstStyle/>
          <a:p>
            <a:endParaRPr/>
          </a:p>
        </p:txBody>
      </p:sp>
      <p:sp>
        <p:nvSpPr>
          <p:cNvPr id="169" name="Shape 16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3879654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39942895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CACBD-5ED5-33B8-215A-323185642786}"/>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98EDF44A-6C0F-9050-090D-DC978C4085F3}"/>
              </a:ext>
            </a:extLst>
          </p:cNvPr>
          <p:cNvSpPr>
            <a:spLocks noGrp="1" noRot="1" noChangeAspect="1"/>
          </p:cNvSpPr>
          <p:nvPr>
            <p:ph type="sldImg"/>
          </p:nvPr>
        </p:nvSpPr>
        <p:spPr>
          <a:xfrm>
            <a:off x="360363" y="685800"/>
            <a:ext cx="6137275" cy="3452813"/>
          </a:xfrm>
        </p:spPr>
      </p:sp>
      <p:sp>
        <p:nvSpPr>
          <p:cNvPr id="3" name="Plassholder for notater 2">
            <a:extLst>
              <a:ext uri="{FF2B5EF4-FFF2-40B4-BE49-F238E27FC236}">
                <a16:creationId xmlns:a16="http://schemas.microsoft.com/office/drawing/2014/main" id="{C9B83541-5229-4696-7279-262EEA074205}"/>
              </a:ext>
            </a:extLst>
          </p:cNvPr>
          <p:cNvSpPr>
            <a:spLocks noGrp="1"/>
          </p:cNvSpPr>
          <p:nvPr>
            <p:ph type="body" idx="1"/>
          </p:nvPr>
        </p:nvSpPr>
        <p:spPr/>
        <p:txBody>
          <a:bodyPr/>
          <a:lstStyle/>
          <a:p>
            <a:endParaRPr lang="nb-NO" dirty="0"/>
          </a:p>
        </p:txBody>
      </p:sp>
      <p:sp>
        <p:nvSpPr>
          <p:cNvPr id="4" name="Plassholder for lysbildenummer 3">
            <a:extLst>
              <a:ext uri="{FF2B5EF4-FFF2-40B4-BE49-F238E27FC236}">
                <a16:creationId xmlns:a16="http://schemas.microsoft.com/office/drawing/2014/main" id="{4D2AF789-FF60-7DB7-CCDA-D0CE18664FEA}"/>
              </a:ext>
            </a:extLst>
          </p:cNvPr>
          <p:cNvSpPr>
            <a:spLocks noGrp="1"/>
          </p:cNvSpPr>
          <p:nvPr>
            <p:ph type="sldNum" sz="quarter" idx="5"/>
          </p:nvPr>
        </p:nvSpPr>
        <p:spPr/>
        <p:txBody>
          <a:bodyPr/>
          <a:lstStyle/>
          <a:p>
            <a:fld id="{A16CFAD1-D197-4A88-B173-A6412E995EE5}" type="slidenum">
              <a:rPr lang="en-GB" smtClean="0"/>
              <a:pPr/>
              <a:t>4</a:t>
            </a:fld>
            <a:endParaRPr lang="en-GB" sz="800"/>
          </a:p>
        </p:txBody>
      </p:sp>
    </p:spTree>
    <p:extLst>
      <p:ext uri="{BB962C8B-B14F-4D97-AF65-F5344CB8AC3E}">
        <p14:creationId xmlns:p14="http://schemas.microsoft.com/office/powerpoint/2010/main" val="15386225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3878285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19081067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22604484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34253288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28681781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26926352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9841627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8279833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30086844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32394507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Author and Date"/>
          <p:cNvSpPr txBox="1">
            <a:spLocks noGrp="1"/>
          </p:cNvSpPr>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sz="3600" b="1"/>
            </a:lvl1pPr>
          </a:lstStyle>
          <a:p>
            <a:r>
              <a:t>Author and Date</a:t>
            </a:r>
          </a:p>
        </p:txBody>
      </p:sp>
      <p:sp>
        <p:nvSpPr>
          <p:cNvPr id="12" name="Presentation Title"/>
          <p:cNvSpPr txBox="1">
            <a:spLocks noGrp="1"/>
          </p:cNvSpPr>
          <p:nvPr>
            <p:ph type="title" hasCustomPrompt="1"/>
          </p:nvPr>
        </p:nvSpPr>
        <p:spPr>
          <a:xfrm>
            <a:off x="1206496" y="2574991"/>
            <a:ext cx="21971004" cy="4648201"/>
          </a:xfrm>
          <a:prstGeom prst="rect">
            <a:avLst/>
          </a:prstGeom>
        </p:spPr>
        <p:txBody>
          <a:bodyPr anchor="b"/>
          <a:lstStyle>
            <a:lvl1pPr>
              <a:defRPr sz="11600" spc="-232"/>
            </a:lvl1pPr>
          </a:lstStyle>
          <a:p>
            <a:r>
              <a:t>Presentation Title</a:t>
            </a:r>
          </a:p>
        </p:txBody>
      </p:sp>
      <p:sp>
        <p:nvSpPr>
          <p:cNvPr id="13" name="Body Level One…"/>
          <p:cNvSpPr txBox="1">
            <a:spLocks noGrp="1"/>
          </p:cNvSpPr>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sz="5500" b="1"/>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t>Presentation Subtitle</a:t>
            </a:r>
          </a:p>
          <a:p>
            <a:pPr lvl="1"/>
            <a:endParaRPr/>
          </a:p>
          <a:p>
            <a:pPr lvl="2"/>
            <a:endParaRPr/>
          </a:p>
          <a:p>
            <a:pPr lvl="3"/>
            <a:endParaRPr/>
          </a:p>
          <a:p>
            <a:pPr lvl="4"/>
            <a:endParaRPr/>
          </a:p>
        </p:txBody>
      </p:sp>
      <p:sp>
        <p:nvSpPr>
          <p:cNvPr id="1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mp; Photo">
    <p:spTree>
      <p:nvGrpSpPr>
        <p:cNvPr id="1" name=""/>
        <p:cNvGrpSpPr/>
        <p:nvPr/>
      </p:nvGrpSpPr>
      <p:grpSpPr>
        <a:xfrm>
          <a:off x="0" y="0"/>
          <a:ext cx="0" cy="0"/>
          <a:chOff x="0" y="0"/>
          <a:chExt cx="0" cy="0"/>
        </a:xfrm>
      </p:grpSpPr>
      <p:sp>
        <p:nvSpPr>
          <p:cNvPr id="21" name="Avocados and limes"/>
          <p:cNvSpPr>
            <a:spLocks noGrp="1"/>
          </p:cNvSpPr>
          <p:nvPr>
            <p:ph type="pic" idx="21"/>
          </p:nvPr>
        </p:nvSpPr>
        <p:spPr>
          <a:xfrm>
            <a:off x="-1155700" y="-1295400"/>
            <a:ext cx="26746200" cy="16018933"/>
          </a:xfrm>
          <a:prstGeom prst="rect">
            <a:avLst/>
          </a:prstGeom>
        </p:spPr>
        <p:txBody>
          <a:bodyPr lIns="91439" tIns="45719" rIns="91439" bIns="45719">
            <a:noAutofit/>
          </a:bodyPr>
          <a:lstStyle/>
          <a:p>
            <a:endParaRPr/>
          </a:p>
        </p:txBody>
      </p:sp>
      <p:sp>
        <p:nvSpPr>
          <p:cNvPr id="22" name="Presentation Title"/>
          <p:cNvSpPr txBox="1">
            <a:spLocks noGrp="1"/>
          </p:cNvSpPr>
          <p:nvPr>
            <p:ph type="title" hasCustomPrompt="1"/>
          </p:nvPr>
        </p:nvSpPr>
        <p:spPr>
          <a:xfrm>
            <a:off x="1206500" y="7124700"/>
            <a:ext cx="21971000" cy="4648200"/>
          </a:xfrm>
          <a:prstGeom prst="rect">
            <a:avLst/>
          </a:prstGeom>
        </p:spPr>
        <p:txBody>
          <a:bodyPr anchor="b"/>
          <a:lstStyle>
            <a:lvl1pPr>
              <a:defRPr sz="11600" spc="-232"/>
            </a:lvl1pPr>
          </a:lstStyle>
          <a:p>
            <a:r>
              <a:t>Presentation Title</a:t>
            </a:r>
          </a:p>
        </p:txBody>
      </p:sp>
      <p:sp>
        <p:nvSpPr>
          <p:cNvPr id="23" name="Author and Date"/>
          <p:cNvSpPr txBox="1">
            <a:spLocks noGrp="1"/>
          </p:cNvSpPr>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sz="3600" b="1"/>
            </a:lvl1pPr>
          </a:lstStyle>
          <a:p>
            <a:r>
              <a:t>Author and Date</a:t>
            </a:r>
          </a:p>
        </p:txBody>
      </p:sp>
      <p:sp>
        <p:nvSpPr>
          <p:cNvPr id="24" name="Body Level One…"/>
          <p:cNvSpPr txBox="1">
            <a:spLocks noGrp="1"/>
          </p:cNvSpPr>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sz="5500" b="1"/>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t>Presentation Subtitle</a:t>
            </a:r>
          </a:p>
          <a:p>
            <a:pPr lvl="1"/>
            <a:endParaRPr/>
          </a:p>
          <a:p>
            <a:pPr lvl="2"/>
            <a:endParaRPr/>
          </a:p>
          <a:p>
            <a:pPr lvl="3"/>
            <a:endParaRPr/>
          </a:p>
          <a:p>
            <a:pPr lvl="4"/>
            <a:endParaRPr/>
          </a:p>
        </p:txBody>
      </p:sp>
      <p:sp>
        <p:nvSpPr>
          <p:cNvPr id="2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mp; Photo Alt">
    <p:spTree>
      <p:nvGrpSpPr>
        <p:cNvPr id="1" name=""/>
        <p:cNvGrpSpPr/>
        <p:nvPr/>
      </p:nvGrpSpPr>
      <p:grpSpPr>
        <a:xfrm>
          <a:off x="0" y="0"/>
          <a:ext cx="0" cy="0"/>
          <a:chOff x="0" y="0"/>
          <a:chExt cx="0" cy="0"/>
        </a:xfrm>
      </p:grpSpPr>
      <p:sp>
        <p:nvSpPr>
          <p:cNvPr id="32" name="Bowl with salmon cakes, salad and houmous"/>
          <p:cNvSpPr>
            <a:spLocks noGrp="1"/>
          </p:cNvSpPr>
          <p:nvPr>
            <p:ph type="pic" idx="21"/>
          </p:nvPr>
        </p:nvSpPr>
        <p:spPr>
          <a:xfrm>
            <a:off x="10972800" y="-203200"/>
            <a:ext cx="12144837" cy="14135100"/>
          </a:xfrm>
          <a:prstGeom prst="rect">
            <a:avLst/>
          </a:prstGeom>
        </p:spPr>
        <p:txBody>
          <a:bodyPr lIns="91439" tIns="45719" rIns="91439" bIns="45719">
            <a:noAutofit/>
          </a:bodyPr>
          <a:lstStyle/>
          <a:p>
            <a:endParaRPr/>
          </a:p>
        </p:txBody>
      </p:sp>
      <p:sp>
        <p:nvSpPr>
          <p:cNvPr id="33" name="Slide Title"/>
          <p:cNvSpPr txBox="1">
            <a:spLocks noGrp="1"/>
          </p:cNvSpPr>
          <p:nvPr>
            <p:ph type="title" hasCustomPrompt="1"/>
          </p:nvPr>
        </p:nvSpPr>
        <p:spPr>
          <a:xfrm>
            <a:off x="1206500" y="1270000"/>
            <a:ext cx="9779000" cy="5882273"/>
          </a:xfrm>
          <a:prstGeom prst="rect">
            <a:avLst/>
          </a:prstGeom>
        </p:spPr>
        <p:txBody>
          <a:bodyPr anchor="b"/>
          <a:lstStyle/>
          <a:p>
            <a:r>
              <a:t>Slide Title</a:t>
            </a:r>
          </a:p>
        </p:txBody>
      </p:sp>
      <p:sp>
        <p:nvSpPr>
          <p:cNvPr id="34" name="Body Level One…"/>
          <p:cNvSpPr txBox="1">
            <a:spLocks noGrp="1"/>
          </p:cNvSpPr>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sz="5500" b="1"/>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t>Slide Subtitle</a:t>
            </a:r>
          </a:p>
          <a:p>
            <a:pPr lvl="1"/>
            <a:endParaRPr/>
          </a:p>
          <a:p>
            <a:pPr lvl="2"/>
            <a:endParaRPr/>
          </a:p>
          <a:p>
            <a:pPr lvl="3"/>
            <a:endParaRPr/>
          </a:p>
          <a:p>
            <a:pPr lvl="4"/>
            <a:endParaRPr/>
          </a:p>
        </p:txBody>
      </p:sp>
      <p:sp>
        <p:nvSpPr>
          <p:cNvPr id="35" name="Slide Number"/>
          <p:cNvSpPr txBox="1">
            <a:spLocks noGrp="1"/>
          </p:cNvSpPr>
          <p:nvPr>
            <p:ph type="sldNum" sz="quarter" idx="2"/>
          </p:nvPr>
        </p:nvSpPr>
        <p:spPr>
          <a:xfrm>
            <a:off x="12001499" y="13085233"/>
            <a:ext cx="368505" cy="3746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2" name="Slide Title"/>
          <p:cNvSpPr txBox="1">
            <a:spLocks noGrp="1"/>
          </p:cNvSpPr>
          <p:nvPr>
            <p:ph type="title" hasCustomPrompt="1"/>
          </p:nvPr>
        </p:nvSpPr>
        <p:spPr>
          <a:prstGeom prst="rect">
            <a:avLst/>
          </a:prstGeom>
        </p:spPr>
        <p:txBody>
          <a:bodyPr/>
          <a:lstStyle/>
          <a:p>
            <a:r>
              <a:t>Slide Title</a:t>
            </a:r>
          </a:p>
        </p:txBody>
      </p:sp>
      <p:sp>
        <p:nvSpPr>
          <p:cNvPr id="43" name="Slide Subtitle"/>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Slide Subtitle</a:t>
            </a:r>
          </a:p>
        </p:txBody>
      </p:sp>
      <p:sp>
        <p:nvSpPr>
          <p:cNvPr id="44"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52" name="Body Level One…"/>
          <p:cNvSpPr txBox="1">
            <a:spLocks noGrp="1"/>
          </p:cNvSpPr>
          <p:nvPr>
            <p:ph type="body" idx="1" hasCustomPrompt="1"/>
          </p:nvPr>
        </p:nvSpPr>
        <p:spPr>
          <a:prstGeom prst="rect">
            <a:avLst/>
          </a:prstGeom>
        </p:spPr>
        <p:txBody>
          <a:bodyPr numCol="2" spcCol="1098550"/>
          <a:lstStyle/>
          <a:p>
            <a:r>
              <a:t>Slide bullet text</a:t>
            </a:r>
          </a:p>
          <a:p>
            <a:pPr lvl="1"/>
            <a:endParaRPr/>
          </a:p>
          <a:p>
            <a:pPr lvl="2"/>
            <a:endParaRPr/>
          </a:p>
          <a:p>
            <a:pPr lvl="3"/>
            <a:endParaRPr/>
          </a:p>
          <a:p>
            <a:pPr lvl="4"/>
            <a:endParaRPr/>
          </a:p>
        </p:txBody>
      </p:sp>
      <p:sp>
        <p:nvSpPr>
          <p:cNvPr id="5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0" name="Slide Subtitle"/>
          <p:cNvSpPr txBox="1">
            <a:spLocks noGrp="1"/>
          </p:cNvSpPr>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Slide Subtitle</a:t>
            </a:r>
          </a:p>
        </p:txBody>
      </p:sp>
      <p:sp>
        <p:nvSpPr>
          <p:cNvPr id="61" name="Body Level One…"/>
          <p:cNvSpPr txBox="1">
            <a:spLocks noGrp="1"/>
          </p:cNvSpPr>
          <p:nvPr>
            <p:ph type="body" sz="half" idx="1" hasCustomPrompt="1"/>
          </p:nvPr>
        </p:nvSpPr>
        <p:spPr>
          <a:xfrm>
            <a:off x="1206500" y="4248504"/>
            <a:ext cx="9779000" cy="8256630"/>
          </a:xfrm>
          <a:prstGeom prst="rect">
            <a:avLst/>
          </a:prstGeom>
        </p:spPr>
        <p:txBody>
          <a:bodyPr/>
          <a:lstStyle/>
          <a:p>
            <a:r>
              <a:t>Slide bullet text</a:t>
            </a:r>
          </a:p>
          <a:p>
            <a:pPr lvl="1"/>
            <a:endParaRPr/>
          </a:p>
          <a:p>
            <a:pPr lvl="2"/>
            <a:endParaRPr/>
          </a:p>
          <a:p>
            <a:pPr lvl="3"/>
            <a:endParaRPr/>
          </a:p>
          <a:p>
            <a:pPr lvl="4"/>
            <a:endParaRPr/>
          </a:p>
        </p:txBody>
      </p:sp>
      <p:sp>
        <p:nvSpPr>
          <p:cNvPr id="62" name="Bowl of pappardelle pasta with parsley butter, roasted hazelnuts and shaved parmesan cheese"/>
          <p:cNvSpPr>
            <a:spLocks noGrp="1"/>
          </p:cNvSpPr>
          <p:nvPr>
            <p:ph type="pic" idx="22"/>
          </p:nvPr>
        </p:nvSpPr>
        <p:spPr>
          <a:xfrm>
            <a:off x="12192000" y="-407266"/>
            <a:ext cx="10916874" cy="14555832"/>
          </a:xfrm>
          <a:prstGeom prst="rect">
            <a:avLst/>
          </a:prstGeom>
        </p:spPr>
        <p:txBody>
          <a:bodyPr lIns="91439" tIns="45719" rIns="91439" bIns="45719">
            <a:noAutofit/>
          </a:bodyPr>
          <a:lstStyle/>
          <a:p>
            <a:endParaRPr/>
          </a:p>
        </p:txBody>
      </p:sp>
      <p:sp>
        <p:nvSpPr>
          <p:cNvPr id="63" name="Slide Title"/>
          <p:cNvSpPr txBox="1">
            <a:spLocks noGrp="1"/>
          </p:cNvSpPr>
          <p:nvPr>
            <p:ph type="title" hasCustomPrompt="1"/>
          </p:nvPr>
        </p:nvSpPr>
        <p:spPr>
          <a:xfrm>
            <a:off x="1206500" y="1079500"/>
            <a:ext cx="9779000" cy="1435100"/>
          </a:xfrm>
          <a:prstGeom prst="rect">
            <a:avLst/>
          </a:prstGeom>
        </p:spPr>
        <p:txBody>
          <a:bodyPr/>
          <a:lstStyle/>
          <a:p>
            <a:r>
              <a:t>Slide Title</a:t>
            </a:r>
          </a:p>
        </p:txBody>
      </p:sp>
      <p:sp>
        <p:nvSpPr>
          <p:cNvPr id="6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Live Video Small">
    <p:spTree>
      <p:nvGrpSpPr>
        <p:cNvPr id="1" name=""/>
        <p:cNvGrpSpPr/>
        <p:nvPr/>
      </p:nvGrpSpPr>
      <p:grpSpPr>
        <a:xfrm>
          <a:off x="0" y="0"/>
          <a:ext cx="0" cy="0"/>
          <a:chOff x="0" y="0"/>
          <a:chExt cx="0" cy="0"/>
        </a:xfrm>
      </p:grpSpPr>
      <p:sp>
        <p:nvSpPr>
          <p:cNvPr id="71" name="Slide Subtitle"/>
          <p:cNvSpPr txBox="1">
            <a:spLocks noGrp="1"/>
          </p:cNvSpPr>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Slide Subtitle</a:t>
            </a:r>
          </a:p>
        </p:txBody>
      </p:sp>
      <p:sp>
        <p:nvSpPr>
          <p:cNvPr id="72" name="Body Level One…"/>
          <p:cNvSpPr txBox="1">
            <a:spLocks noGrp="1"/>
          </p:cNvSpPr>
          <p:nvPr>
            <p:ph type="body" sz="half" idx="1" hasCustomPrompt="1"/>
          </p:nvPr>
        </p:nvSpPr>
        <p:spPr>
          <a:xfrm>
            <a:off x="1206500" y="4248504"/>
            <a:ext cx="9779000" cy="8256630"/>
          </a:xfrm>
          <a:prstGeom prst="rect">
            <a:avLst/>
          </a:prstGeom>
        </p:spPr>
        <p:txBody>
          <a:bodyPr/>
          <a:lstStyle/>
          <a:p>
            <a:r>
              <a:t>Slide bullet text</a:t>
            </a:r>
          </a:p>
          <a:p>
            <a:pPr lvl="1"/>
            <a:endParaRPr/>
          </a:p>
          <a:p>
            <a:pPr lvl="2"/>
            <a:endParaRPr/>
          </a:p>
          <a:p>
            <a:pPr lvl="3"/>
            <a:endParaRPr/>
          </a:p>
          <a:p>
            <a:pPr lvl="4"/>
            <a:endParaRPr/>
          </a:p>
        </p:txBody>
      </p:sp>
      <p:sp>
        <p:nvSpPr>
          <p:cNvPr id="73" name="Slide Title"/>
          <p:cNvSpPr txBox="1">
            <a:spLocks noGrp="1"/>
          </p:cNvSpPr>
          <p:nvPr>
            <p:ph type="title" hasCustomPrompt="1"/>
          </p:nvPr>
        </p:nvSpPr>
        <p:spPr>
          <a:xfrm>
            <a:off x="1206500" y="1079500"/>
            <a:ext cx="9779000" cy="1435100"/>
          </a:xfrm>
          <a:prstGeom prst="rect">
            <a:avLst/>
          </a:prstGeom>
        </p:spPr>
        <p:txBody>
          <a:bodyPr/>
          <a:lstStyle/>
          <a:p>
            <a:r>
              <a:t>Slide Title</a:t>
            </a:r>
          </a:p>
        </p:txBody>
      </p:sp>
      <p:sp>
        <p:nvSpPr>
          <p:cNvPr id="7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Bullets &amp; Live Video Large">
    <p:spTree>
      <p:nvGrpSpPr>
        <p:cNvPr id="1" name=""/>
        <p:cNvGrpSpPr/>
        <p:nvPr/>
      </p:nvGrpSpPr>
      <p:grpSpPr>
        <a:xfrm>
          <a:off x="0" y="0"/>
          <a:ext cx="0" cy="0"/>
          <a:chOff x="0" y="0"/>
          <a:chExt cx="0" cy="0"/>
        </a:xfrm>
      </p:grpSpPr>
      <p:sp>
        <p:nvSpPr>
          <p:cNvPr id="81" name="Slide Subtitle"/>
          <p:cNvSpPr txBox="1">
            <a:spLocks noGrp="1"/>
          </p:cNvSpPr>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Slide Subtitle</a:t>
            </a:r>
          </a:p>
        </p:txBody>
      </p:sp>
      <p:sp>
        <p:nvSpPr>
          <p:cNvPr id="82" name="Body Level One…"/>
          <p:cNvSpPr txBox="1">
            <a:spLocks noGrp="1"/>
          </p:cNvSpPr>
          <p:nvPr>
            <p:ph type="body" sz="half" idx="1" hasCustomPrompt="1"/>
          </p:nvPr>
        </p:nvSpPr>
        <p:spPr>
          <a:xfrm>
            <a:off x="1206500" y="4248504"/>
            <a:ext cx="9779000" cy="8256630"/>
          </a:xfrm>
          <a:prstGeom prst="rect">
            <a:avLst/>
          </a:prstGeom>
        </p:spPr>
        <p:txBody>
          <a:bodyPr/>
          <a:lstStyle/>
          <a:p>
            <a:r>
              <a:t>Slide bullet text</a:t>
            </a:r>
          </a:p>
          <a:p>
            <a:pPr lvl="1"/>
            <a:endParaRPr/>
          </a:p>
          <a:p>
            <a:pPr lvl="2"/>
            <a:endParaRPr/>
          </a:p>
          <a:p>
            <a:pPr lvl="3"/>
            <a:endParaRPr/>
          </a:p>
          <a:p>
            <a:pPr lvl="4"/>
            <a:endParaRPr/>
          </a:p>
        </p:txBody>
      </p:sp>
      <p:sp>
        <p:nvSpPr>
          <p:cNvPr id="83" name="Slide Title"/>
          <p:cNvSpPr txBox="1">
            <a:spLocks noGrp="1"/>
          </p:cNvSpPr>
          <p:nvPr>
            <p:ph type="title" hasCustomPrompt="1"/>
          </p:nvPr>
        </p:nvSpPr>
        <p:spPr>
          <a:xfrm>
            <a:off x="1206500" y="1079500"/>
            <a:ext cx="9779000" cy="1435100"/>
          </a:xfrm>
          <a:prstGeom prst="rect">
            <a:avLst/>
          </a:prstGeom>
        </p:spPr>
        <p:txBody>
          <a:bodyPr/>
          <a:lstStyle/>
          <a:p>
            <a:r>
              <a:t>Slide Title</a:t>
            </a:r>
          </a:p>
        </p:txBody>
      </p:sp>
      <p:sp>
        <p:nvSpPr>
          <p:cNvPr id="8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Section">
    <p:spTree>
      <p:nvGrpSpPr>
        <p:cNvPr id="1" name=""/>
        <p:cNvGrpSpPr/>
        <p:nvPr/>
      </p:nvGrpSpPr>
      <p:grpSpPr>
        <a:xfrm>
          <a:off x="0" y="0"/>
          <a:ext cx="0" cy="0"/>
          <a:chOff x="0" y="0"/>
          <a:chExt cx="0" cy="0"/>
        </a:xfrm>
      </p:grpSpPr>
      <p:sp>
        <p:nvSpPr>
          <p:cNvPr id="91" name="Section Title"/>
          <p:cNvSpPr txBox="1">
            <a:spLocks noGrp="1"/>
          </p:cNvSpPr>
          <p:nvPr>
            <p:ph type="title" hasCustomPrompt="1"/>
          </p:nvPr>
        </p:nvSpPr>
        <p:spPr>
          <a:xfrm>
            <a:off x="1206496" y="4533900"/>
            <a:ext cx="21971004" cy="4648200"/>
          </a:xfrm>
          <a:prstGeom prst="rect">
            <a:avLst/>
          </a:prstGeom>
        </p:spPr>
        <p:txBody>
          <a:bodyPr anchor="ctr"/>
          <a:lstStyle>
            <a:lvl1pPr>
              <a:defRPr sz="11600" b="0" spc="-232">
                <a:latin typeface="Helvetica Neue Medium"/>
                <a:ea typeface="Helvetica Neue Medium"/>
                <a:cs typeface="Helvetica Neue Medium"/>
                <a:sym typeface="Helvetica Neue Medium"/>
              </a:defRPr>
            </a:lvl1pPr>
          </a:lstStyle>
          <a:p>
            <a:r>
              <a:t>Section Title</a:t>
            </a:r>
          </a:p>
        </p:txBody>
      </p:sp>
      <p:sp>
        <p:nvSpPr>
          <p:cNvPr id="92" name="Slide Number"/>
          <p:cNvSpPr txBox="1">
            <a:spLocks noGrp="1"/>
          </p:cNvSpPr>
          <p:nvPr>
            <p:ph type="sldNum" sz="quarter" idx="2"/>
          </p:nvPr>
        </p:nvSpPr>
        <p:spPr>
          <a:xfrm>
            <a:off x="12001499" y="13085233"/>
            <a:ext cx="368505" cy="3746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99" name="Slide Title"/>
          <p:cNvSpPr txBox="1">
            <a:spLocks noGrp="1"/>
          </p:cNvSpPr>
          <p:nvPr>
            <p:ph type="title" hasCustomPrompt="1"/>
          </p:nvPr>
        </p:nvSpPr>
        <p:spPr>
          <a:xfrm>
            <a:off x="1206500" y="1079500"/>
            <a:ext cx="21971000" cy="1434949"/>
          </a:xfrm>
          <a:prstGeom prst="rect">
            <a:avLst/>
          </a:prstGeom>
        </p:spPr>
        <p:txBody>
          <a:bodyPr/>
          <a:lstStyle/>
          <a:p>
            <a:r>
              <a:t>Slide Title</a:t>
            </a:r>
          </a:p>
        </p:txBody>
      </p:sp>
      <p:sp>
        <p:nvSpPr>
          <p:cNvPr id="100" name="Slide Subtitle"/>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Slide Subtitle</a:t>
            </a:r>
          </a:p>
        </p:txBody>
      </p:sp>
      <p:sp>
        <p:nvSpPr>
          <p:cNvPr id="10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Agenda">
    <p:spTree>
      <p:nvGrpSpPr>
        <p:cNvPr id="1" name=""/>
        <p:cNvGrpSpPr/>
        <p:nvPr/>
      </p:nvGrpSpPr>
      <p:grpSpPr>
        <a:xfrm>
          <a:off x="0" y="0"/>
          <a:ext cx="0" cy="0"/>
          <a:chOff x="0" y="0"/>
          <a:chExt cx="0" cy="0"/>
        </a:xfrm>
      </p:grpSpPr>
      <p:sp>
        <p:nvSpPr>
          <p:cNvPr id="108" name="Agenda Title"/>
          <p:cNvSpPr txBox="1">
            <a:spLocks noGrp="1"/>
          </p:cNvSpPr>
          <p:nvPr>
            <p:ph type="title" hasCustomPrompt="1"/>
          </p:nvPr>
        </p:nvSpPr>
        <p:spPr>
          <a:xfrm>
            <a:off x="1206500" y="1079500"/>
            <a:ext cx="21971000" cy="1435100"/>
          </a:xfrm>
          <a:prstGeom prst="rect">
            <a:avLst/>
          </a:prstGeom>
        </p:spPr>
        <p:txBody>
          <a:bodyPr/>
          <a:lstStyle/>
          <a:p>
            <a:r>
              <a:t>Agenda Title</a:t>
            </a:r>
          </a:p>
        </p:txBody>
      </p:sp>
      <p:sp>
        <p:nvSpPr>
          <p:cNvPr id="109" name="Agenda Subtitle"/>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Agenda Subtitle</a:t>
            </a:r>
          </a:p>
        </p:txBody>
      </p:sp>
      <p:sp>
        <p:nvSpPr>
          <p:cNvPr id="110" name="Body Level One…"/>
          <p:cNvSpPr txBox="1">
            <a:spLocks noGrp="1"/>
          </p:cNvSpPr>
          <p:nvPr>
            <p:ph type="body" idx="1" hasCustomPrompt="1"/>
          </p:nvPr>
        </p:nvSpPr>
        <p:spPr>
          <a:prstGeom prst="rect">
            <a:avLst/>
          </a:prstGeom>
        </p:spPr>
        <p:txBody>
          <a:bodyPr/>
          <a:lstStyle>
            <a:lvl1pPr marL="0" indent="0" defTabSz="825500">
              <a:lnSpc>
                <a:spcPct val="100000"/>
              </a:lnSpc>
              <a:spcBef>
                <a:spcPts val="1800"/>
              </a:spcBef>
              <a:buSzTx/>
              <a:buNone/>
              <a:defRPr sz="5500" spc="-55"/>
            </a:lvl1pPr>
            <a:lvl2pPr marL="0" indent="457200" defTabSz="825500">
              <a:lnSpc>
                <a:spcPct val="100000"/>
              </a:lnSpc>
              <a:spcBef>
                <a:spcPts val="1800"/>
              </a:spcBef>
              <a:buSzTx/>
              <a:buNone/>
              <a:defRPr sz="5500" spc="-55"/>
            </a:lvl2pPr>
            <a:lvl3pPr marL="0" indent="914400" defTabSz="825500">
              <a:lnSpc>
                <a:spcPct val="100000"/>
              </a:lnSpc>
              <a:spcBef>
                <a:spcPts val="1800"/>
              </a:spcBef>
              <a:buSzTx/>
              <a:buNone/>
              <a:defRPr sz="5500" spc="-55"/>
            </a:lvl3pPr>
            <a:lvl4pPr marL="0" indent="1371600" defTabSz="825500">
              <a:lnSpc>
                <a:spcPct val="100000"/>
              </a:lnSpc>
              <a:spcBef>
                <a:spcPts val="1800"/>
              </a:spcBef>
              <a:buSzTx/>
              <a:buNone/>
              <a:defRPr sz="5500" spc="-55"/>
            </a:lvl4pPr>
            <a:lvl5pPr marL="0" indent="1828800" defTabSz="825500">
              <a:lnSpc>
                <a:spcPct val="100000"/>
              </a:lnSpc>
              <a:spcBef>
                <a:spcPts val="1800"/>
              </a:spcBef>
              <a:buSzTx/>
              <a:buNone/>
              <a:defRPr sz="5500" spc="-55"/>
            </a:lvl5pPr>
          </a:lstStyle>
          <a:p>
            <a:r>
              <a:t>Agenda Topics</a:t>
            </a:r>
          </a:p>
          <a:p>
            <a:pPr lvl="1"/>
            <a:endParaRPr/>
          </a:p>
          <a:p>
            <a:pPr lvl="2"/>
            <a:endParaRPr/>
          </a:p>
          <a:p>
            <a:pPr lvl="3"/>
            <a:endParaRPr/>
          </a:p>
          <a:p>
            <a:pPr lvl="4"/>
            <a:endParaRPr/>
          </a:p>
        </p:txBody>
      </p:sp>
      <p:sp>
        <p:nvSpPr>
          <p:cNvPr id="1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Statement">
    <p:spTree>
      <p:nvGrpSpPr>
        <p:cNvPr id="1" name=""/>
        <p:cNvGrpSpPr/>
        <p:nvPr/>
      </p:nvGrpSpPr>
      <p:grpSpPr>
        <a:xfrm>
          <a:off x="0" y="0"/>
          <a:ext cx="0" cy="0"/>
          <a:chOff x="0" y="0"/>
          <a:chExt cx="0" cy="0"/>
        </a:xfrm>
      </p:grpSpPr>
      <p:sp>
        <p:nvSpPr>
          <p:cNvPr id="118" name="Body Level One…"/>
          <p:cNvSpPr txBox="1">
            <a:spLocks noGrp="1"/>
          </p:cNvSpPr>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z="11600" spc="-232">
                <a:latin typeface="Helvetica Neue Medium"/>
                <a:ea typeface="Helvetica Neue Medium"/>
                <a:cs typeface="Helvetica Neue Medium"/>
                <a:sym typeface="Helvetica Neue Medium"/>
              </a:defRPr>
            </a:lvl1pPr>
            <a:lvl2pPr marL="0" indent="457200" algn="ctr">
              <a:lnSpc>
                <a:spcPct val="80000"/>
              </a:lnSpc>
              <a:spcBef>
                <a:spcPts val="0"/>
              </a:spcBef>
              <a:buSzTx/>
              <a:buNone/>
              <a:defRPr sz="11600" spc="-232">
                <a:latin typeface="Helvetica Neue Medium"/>
                <a:ea typeface="Helvetica Neue Medium"/>
                <a:cs typeface="Helvetica Neue Medium"/>
                <a:sym typeface="Helvetica Neue Medium"/>
              </a:defRPr>
            </a:lvl2pPr>
            <a:lvl3pPr marL="0" indent="914400" algn="ctr">
              <a:lnSpc>
                <a:spcPct val="80000"/>
              </a:lnSpc>
              <a:spcBef>
                <a:spcPts val="0"/>
              </a:spcBef>
              <a:buSzTx/>
              <a:buNone/>
              <a:defRPr sz="11600" spc="-232">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z="11600" spc="-232">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z="11600" spc="-232">
                <a:latin typeface="Helvetica Neue Medium"/>
                <a:ea typeface="Helvetica Neue Medium"/>
                <a:cs typeface="Helvetica Neue Medium"/>
                <a:sym typeface="Helvetica Neue Medium"/>
              </a:defRPr>
            </a:lvl5pPr>
          </a:lstStyle>
          <a:p>
            <a:r>
              <a:t>Statement</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Big Fact">
    <p:spTree>
      <p:nvGrpSpPr>
        <p:cNvPr id="1" name=""/>
        <p:cNvGrpSpPr/>
        <p:nvPr/>
      </p:nvGrpSpPr>
      <p:grpSpPr>
        <a:xfrm>
          <a:off x="0" y="0"/>
          <a:ext cx="0" cy="0"/>
          <a:chOff x="0" y="0"/>
          <a:chExt cx="0" cy="0"/>
        </a:xfrm>
      </p:grpSpPr>
      <p:sp>
        <p:nvSpPr>
          <p:cNvPr id="126" name="Body Level One…"/>
          <p:cNvSpPr txBox="1">
            <a:spLocks noGrp="1"/>
          </p:cNvSpPr>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sz="25000" b="1" spc="-250"/>
            </a:lvl1pPr>
            <a:lvl2pPr marL="0" indent="457200" algn="ctr">
              <a:lnSpc>
                <a:spcPct val="80000"/>
              </a:lnSpc>
              <a:spcBef>
                <a:spcPts val="0"/>
              </a:spcBef>
              <a:buSzTx/>
              <a:buNone/>
              <a:defRPr sz="25000" b="1" spc="-250"/>
            </a:lvl2pPr>
            <a:lvl3pPr marL="0" indent="914400" algn="ctr">
              <a:lnSpc>
                <a:spcPct val="80000"/>
              </a:lnSpc>
              <a:spcBef>
                <a:spcPts val="0"/>
              </a:spcBef>
              <a:buSzTx/>
              <a:buNone/>
              <a:defRPr sz="25000" b="1" spc="-250"/>
            </a:lvl3pPr>
            <a:lvl4pPr marL="0" indent="1371600" algn="ctr">
              <a:lnSpc>
                <a:spcPct val="80000"/>
              </a:lnSpc>
              <a:spcBef>
                <a:spcPts val="0"/>
              </a:spcBef>
              <a:buSzTx/>
              <a:buNone/>
              <a:defRPr sz="25000" b="1" spc="-250"/>
            </a:lvl4pPr>
            <a:lvl5pPr marL="0" indent="1828800" algn="ctr">
              <a:lnSpc>
                <a:spcPct val="80000"/>
              </a:lnSpc>
              <a:spcBef>
                <a:spcPts val="0"/>
              </a:spcBef>
              <a:buSzTx/>
              <a:buNone/>
              <a:defRPr sz="25000" b="1" spc="-250"/>
            </a:lvl5pPr>
          </a:lstStyle>
          <a:p>
            <a:r>
              <a:t>100%</a:t>
            </a:r>
          </a:p>
          <a:p>
            <a:pPr lvl="1"/>
            <a:endParaRPr/>
          </a:p>
          <a:p>
            <a:pPr lvl="2"/>
            <a:endParaRPr/>
          </a:p>
          <a:p>
            <a:pPr lvl="3"/>
            <a:endParaRPr/>
          </a:p>
          <a:p>
            <a:pPr lvl="4"/>
            <a:endParaRPr/>
          </a:p>
        </p:txBody>
      </p:sp>
      <p:sp>
        <p:nvSpPr>
          <p:cNvPr id="127" name="Fact information"/>
          <p:cNvSpPr txBox="1">
            <a:spLocks noGrp="1"/>
          </p:cNvSpPr>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sz="5500" b="1"/>
            </a:lvl1pPr>
          </a:lstStyle>
          <a:p>
            <a:r>
              <a:t>Fact information</a:t>
            </a: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135" name="Attribution"/>
          <p:cNvSpPr txBox="1">
            <a:spLocks noGrp="1"/>
          </p:cNvSpPr>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sz="3600" b="1"/>
            </a:lvl1pPr>
          </a:lstStyle>
          <a:p>
            <a:r>
              <a:t>Attribution</a:t>
            </a:r>
          </a:p>
        </p:txBody>
      </p:sp>
      <p:sp>
        <p:nvSpPr>
          <p:cNvPr id="136" name="Body Level One…"/>
          <p:cNvSpPr txBox="1">
            <a:spLocks noGrp="1"/>
          </p:cNvSpPr>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z="8500" spc="-170">
                <a:latin typeface="Helvetica Neue Medium"/>
                <a:ea typeface="Helvetica Neue Medium"/>
                <a:cs typeface="Helvetica Neue Medium"/>
                <a:sym typeface="Helvetica Neue Medium"/>
              </a:defRPr>
            </a:lvl1pPr>
            <a:lvl2pPr marL="638923" indent="-12700">
              <a:spcBef>
                <a:spcPts val="0"/>
              </a:spcBef>
              <a:buSzTx/>
              <a:buNone/>
              <a:defRPr sz="8500" spc="-170">
                <a:latin typeface="Helvetica Neue Medium"/>
                <a:ea typeface="Helvetica Neue Medium"/>
                <a:cs typeface="Helvetica Neue Medium"/>
                <a:sym typeface="Helvetica Neue Medium"/>
              </a:defRPr>
            </a:lvl2pPr>
            <a:lvl3pPr marL="638923" indent="444500">
              <a:spcBef>
                <a:spcPts val="0"/>
              </a:spcBef>
              <a:buSzTx/>
              <a:buNone/>
              <a:defRPr sz="8500" spc="-170">
                <a:latin typeface="Helvetica Neue Medium"/>
                <a:ea typeface="Helvetica Neue Medium"/>
                <a:cs typeface="Helvetica Neue Medium"/>
                <a:sym typeface="Helvetica Neue Medium"/>
              </a:defRPr>
            </a:lvl3pPr>
            <a:lvl4pPr marL="638923" indent="901700">
              <a:spcBef>
                <a:spcPts val="0"/>
              </a:spcBef>
              <a:buSzTx/>
              <a:buNone/>
              <a:defRPr sz="8500" spc="-170">
                <a:latin typeface="Helvetica Neue Medium"/>
                <a:ea typeface="Helvetica Neue Medium"/>
                <a:cs typeface="Helvetica Neue Medium"/>
                <a:sym typeface="Helvetica Neue Medium"/>
              </a:defRPr>
            </a:lvl4pPr>
            <a:lvl5pPr marL="638923" indent="1358900">
              <a:spcBef>
                <a:spcPts val="0"/>
              </a:spcBef>
              <a:buSzTx/>
              <a:buNone/>
              <a:defRPr sz="8500" spc="-170">
                <a:latin typeface="Helvetica Neue Medium"/>
                <a:ea typeface="Helvetica Neue Medium"/>
                <a:cs typeface="Helvetica Neue Medium"/>
                <a:sym typeface="Helvetica Neue Medium"/>
              </a:defRPr>
            </a:lvl5pPr>
          </a:lstStyle>
          <a:p>
            <a:r>
              <a:t>“Notable Quote”</a:t>
            </a:r>
          </a:p>
          <a:p>
            <a:pPr lvl="1"/>
            <a:endParaRPr/>
          </a:p>
          <a:p>
            <a:pPr lvl="2"/>
            <a:endParaRPr/>
          </a:p>
          <a:p>
            <a:pPr lvl="3"/>
            <a:endParaRPr/>
          </a:p>
          <a:p>
            <a:pPr lvl="4"/>
            <a:endParaRPr/>
          </a:p>
        </p:txBody>
      </p:sp>
      <p:sp>
        <p:nvSpPr>
          <p:cNvPr id="13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144" name="Bowl of salad with fried rice, boiled eggs and chopsticks"/>
          <p:cNvSpPr>
            <a:spLocks noGrp="1"/>
          </p:cNvSpPr>
          <p:nvPr>
            <p:ph type="pic" sz="quarter" idx="21"/>
          </p:nvPr>
        </p:nvSpPr>
        <p:spPr>
          <a:xfrm>
            <a:off x="15760700" y="1016000"/>
            <a:ext cx="7439099" cy="5949678"/>
          </a:xfrm>
          <a:prstGeom prst="rect">
            <a:avLst/>
          </a:prstGeom>
        </p:spPr>
        <p:txBody>
          <a:bodyPr lIns="91439" tIns="45719" rIns="91439" bIns="45719">
            <a:noAutofit/>
          </a:bodyPr>
          <a:lstStyle/>
          <a:p>
            <a:endParaRPr/>
          </a:p>
        </p:txBody>
      </p:sp>
      <p:sp>
        <p:nvSpPr>
          <p:cNvPr id="145" name="Bowl with salmon cakes, salad and houmous "/>
          <p:cNvSpPr>
            <a:spLocks noGrp="1"/>
          </p:cNvSpPr>
          <p:nvPr>
            <p:ph type="pic" sz="half" idx="22"/>
          </p:nvPr>
        </p:nvSpPr>
        <p:spPr>
          <a:xfrm>
            <a:off x="13500100" y="3978275"/>
            <a:ext cx="10439400" cy="12150181"/>
          </a:xfrm>
          <a:prstGeom prst="rect">
            <a:avLst/>
          </a:prstGeom>
        </p:spPr>
        <p:txBody>
          <a:bodyPr lIns="91439" tIns="45719" rIns="91439" bIns="45719">
            <a:noAutofit/>
          </a:bodyPr>
          <a:lstStyle/>
          <a:p>
            <a:endParaRPr/>
          </a:p>
        </p:txBody>
      </p:sp>
      <p:sp>
        <p:nvSpPr>
          <p:cNvPr id="146" name="Bowl of pappardelle pasta with parsley butter, roasted hazelnuts and shaved parmesan cheese"/>
          <p:cNvSpPr>
            <a:spLocks noGrp="1"/>
          </p:cNvSpPr>
          <p:nvPr>
            <p:ph type="pic" idx="23"/>
          </p:nvPr>
        </p:nvSpPr>
        <p:spPr>
          <a:xfrm>
            <a:off x="-139700" y="495300"/>
            <a:ext cx="16611600" cy="12458700"/>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54" name="bowl of salad with fried rice, boiled eggs and chopsticks"/>
          <p:cNvSpPr>
            <a:spLocks noGrp="1"/>
          </p:cNvSpPr>
          <p:nvPr>
            <p:ph type="pic" idx="21"/>
          </p:nvPr>
        </p:nvSpPr>
        <p:spPr>
          <a:xfrm>
            <a:off x="-1333500" y="-5524500"/>
            <a:ext cx="27051000" cy="21640800"/>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6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GB"/>
              <a:t>Click to add title</a:t>
            </a:r>
          </a:p>
        </p:txBody>
      </p:sp>
      <p:sp>
        <p:nvSpPr>
          <p:cNvPr id="3" name="Content Placeholder 2"/>
          <p:cNvSpPr>
            <a:spLocks noGrp="1"/>
          </p:cNvSpPr>
          <p:nvPr>
            <p:ph idx="1" hasCustomPrompt="1"/>
          </p:nvPr>
        </p:nvSpPr>
        <p:spPr/>
        <p:txBody>
          <a:bodyPr rIns="0"/>
          <a:lstStyle>
            <a:lvl5pPr>
              <a:defRPr/>
            </a:lvl5pPr>
          </a:lstStyle>
          <a:p>
            <a:pPr lvl="0"/>
            <a:r>
              <a:rPr lang="en-GB"/>
              <a:t>Click to add text</a:t>
            </a:r>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4" name="Date Placeholder 3"/>
          <p:cNvSpPr>
            <a:spLocks noGrp="1"/>
          </p:cNvSpPr>
          <p:nvPr>
            <p:ph type="dt" sz="half" idx="10"/>
          </p:nvPr>
        </p:nvSpPr>
        <p:spPr>
          <a:xfrm>
            <a:off x="0" y="13716000"/>
            <a:ext cx="0" cy="0"/>
          </a:xfrm>
        </p:spPr>
        <p:txBody>
          <a:bodyPr/>
          <a:lstStyle>
            <a:lvl1pPr>
              <a:defRPr>
                <a:noFill/>
              </a:defRPr>
            </a:lvl1p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a:xfrm>
            <a:off x="11993391" y="13076008"/>
            <a:ext cx="384721" cy="379591"/>
          </a:xfrm>
        </p:spPr>
        <p:txBody>
          <a:bodyPr/>
          <a:lstStyle/>
          <a:p>
            <a:fld id="{5BA07366-CB75-4AA8-9E5B-928B849F427C}" type="slidenum">
              <a:rPr lang="en-GB" smtClean="0"/>
              <a:t>‹#›</a:t>
            </a:fld>
            <a:endParaRPr lang="en-GB"/>
          </a:p>
        </p:txBody>
      </p:sp>
    </p:spTree>
    <p:extLst>
      <p:ext uri="{BB962C8B-B14F-4D97-AF65-F5344CB8AC3E}">
        <p14:creationId xmlns:p14="http://schemas.microsoft.com/office/powerpoint/2010/main" val="85664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Slide bullet text</a:t>
            </a:r>
          </a:p>
          <a:p>
            <a:pPr lvl="1"/>
            <a:endParaRPr/>
          </a:p>
          <a:p>
            <a:pPr lvl="2"/>
            <a:endParaRPr/>
          </a:p>
          <a:p>
            <a:pPr lvl="3"/>
            <a:endParaRPr/>
          </a:p>
          <a:p>
            <a:pPr lvl="4"/>
            <a:endParaRPr/>
          </a:p>
        </p:txBody>
      </p:sp>
      <p:sp>
        <p:nvSpPr>
          <p:cNvPr id="4" name="Slide Number"/>
          <p:cNvSpPr txBox="1">
            <a:spLocks noGrp="1"/>
          </p:cNvSpPr>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ransition spd="med"/>
  <p:txStyles>
    <p:titleStyle>
      <a:lvl1pPr marL="0" marR="0" indent="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18/10/relationships/comments" Target="../comments/modernComment_101_0.xml"/><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4A_7C32FB1C.xml"/><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Author and Date"/>
          <p:cNvSpPr txBox="1">
            <a:spLocks noGrp="1"/>
          </p:cNvSpPr>
          <p:nvPr>
            <p:ph type="body" idx="21"/>
          </p:nvPr>
        </p:nvSpPr>
        <p:spPr>
          <a:prstGeom prst="rect">
            <a:avLst/>
          </a:prstGeom>
        </p:spPr>
        <p:txBody>
          <a:bodyPr>
            <a:normAutofit lnSpcReduction="10000"/>
          </a:bodyPr>
          <a:lstStyle/>
          <a:p>
            <a:endParaRPr/>
          </a:p>
        </p:txBody>
      </p:sp>
      <p:sp>
        <p:nvSpPr>
          <p:cNvPr id="172" name="Formal representations of requirements"/>
          <p:cNvSpPr txBox="1">
            <a:spLocks noGrp="1"/>
          </p:cNvSpPr>
          <p:nvPr>
            <p:ph type="ctrTitle"/>
          </p:nvPr>
        </p:nvSpPr>
        <p:spPr>
          <a:prstGeom prst="rect">
            <a:avLst/>
          </a:prstGeom>
        </p:spPr>
        <p:txBody>
          <a:bodyPr/>
          <a:lstStyle/>
          <a:p>
            <a:r>
              <a:t>Formal representations of requirements</a:t>
            </a:r>
          </a:p>
        </p:txBody>
      </p:sp>
      <p:sp>
        <p:nvSpPr>
          <p:cNvPr id="173" name="Understanding requirements as structured, related and evaluable statements"/>
          <p:cNvSpPr txBox="1">
            <a:spLocks noGrp="1"/>
          </p:cNvSpPr>
          <p:nvPr>
            <p:ph type="subTitle" sz="quarter" idx="1"/>
          </p:nvPr>
        </p:nvSpPr>
        <p:spPr>
          <a:prstGeom prst="rect">
            <a:avLst/>
          </a:prstGeom>
        </p:spPr>
        <p:txBody>
          <a:bodyPr/>
          <a:lstStyle>
            <a:lvl1pPr defTabSz="2438338">
              <a:lnSpc>
                <a:spcPct val="90000"/>
              </a:lnSpc>
              <a:spcBef>
                <a:spcPts val="4500"/>
              </a:spcBef>
              <a:defRPr sz="4800" b="0">
                <a:latin typeface="Arial"/>
                <a:ea typeface="Arial"/>
                <a:cs typeface="Arial"/>
                <a:sym typeface="Arial"/>
              </a:defRPr>
            </a:lvl1pPr>
          </a:lstStyle>
          <a:p>
            <a:r>
              <a:t>Understanding requirements as structured, related and evaluable statements</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Challenge in front of us?"/>
          <p:cNvSpPr txBox="1">
            <a:spLocks noGrp="1"/>
          </p:cNvSpPr>
          <p:nvPr>
            <p:ph type="title"/>
          </p:nvPr>
        </p:nvSpPr>
        <p:spPr>
          <a:prstGeom prst="rect">
            <a:avLst/>
          </a:prstGeom>
        </p:spPr>
        <p:txBody>
          <a:bodyPr/>
          <a:lstStyle/>
          <a:p>
            <a:r>
              <a:t>Challenge in front of us?</a:t>
            </a:r>
          </a:p>
        </p:txBody>
      </p:sp>
      <p:sp>
        <p:nvSpPr>
          <p:cNvPr id="176" name="Slide Subtitle"/>
          <p:cNvSpPr txBox="1">
            <a:spLocks noGrp="1"/>
          </p:cNvSpPr>
          <p:nvPr>
            <p:ph type="body" idx="21"/>
          </p:nvPr>
        </p:nvSpPr>
        <p:spPr>
          <a:prstGeom prst="rect">
            <a:avLst/>
          </a:prstGeom>
        </p:spPr>
        <p:txBody>
          <a:bodyPr/>
          <a:lstStyle/>
          <a:p>
            <a:endParaRPr/>
          </a:p>
        </p:txBody>
      </p:sp>
      <p:sp>
        <p:nvSpPr>
          <p:cNvPr id="177" name="We want to move from storing requirements as independent pieces of text to understanding them as structured, related and evaluable statements.…"/>
          <p:cNvSpPr txBox="1">
            <a:spLocks noGrp="1"/>
          </p:cNvSpPr>
          <p:nvPr>
            <p:ph type="body" idx="1"/>
          </p:nvPr>
        </p:nvSpPr>
        <p:spPr>
          <a:prstGeom prst="rect">
            <a:avLst/>
          </a:prstGeom>
        </p:spPr>
        <p:txBody>
          <a:bodyPr lIns="50800" tIns="50800" rIns="50800" bIns="50800" anchor="t">
            <a:normAutofit/>
          </a:bodyPr>
          <a:lstStyle/>
          <a:p>
            <a:pPr marL="0" indent="0">
              <a:buSzTx/>
              <a:buNone/>
              <a:defRPr>
                <a:latin typeface="Arial"/>
                <a:ea typeface="Arial"/>
                <a:cs typeface="Arial"/>
                <a:sym typeface="Arial"/>
              </a:defRPr>
            </a:pPr>
            <a:r>
              <a:rPr dirty="0"/>
              <a:t>We want to move from storing requirements as independent pieces of text to understanding them as structured, related and evaluable statements.</a:t>
            </a:r>
          </a:p>
          <a:p>
            <a:pPr marL="0" indent="0">
              <a:buSzTx/>
              <a:buNone/>
              <a:defRPr>
                <a:latin typeface="Arial"/>
                <a:ea typeface="Arial"/>
                <a:cs typeface="Arial"/>
                <a:sym typeface="Arial"/>
              </a:defRPr>
            </a:pPr>
            <a:r>
              <a:rPr dirty="0"/>
              <a:t>If we can do that, document versioning and duplicate tasks become consequences of a broader capability: understanding when requirements mean the same thing, share actions, imply one another, apply to a particular context, and are satisfied by the same </a:t>
            </a:r>
            <a:r>
              <a:rPr lang="en-US" dirty="0"/>
              <a:t>evidence</a:t>
            </a:r>
            <a:r>
              <a:rPr dirty="0"/>
              <a:t>.</a:t>
            </a:r>
          </a:p>
          <a:p>
            <a:pPr marL="0" indent="0">
              <a:buSzTx/>
              <a:buNone/>
              <a:defRPr b="1">
                <a:latin typeface="Arial"/>
                <a:ea typeface="Arial"/>
                <a:cs typeface="Arial"/>
                <a:sym typeface="Arial"/>
              </a:defRPr>
            </a:pPr>
            <a:r>
              <a:rPr dirty="0"/>
              <a:t>Our immediate job is to determine the minimum representation needed to make that possible — and test whether we can create it reliably and at scale.</a:t>
            </a:r>
          </a:p>
        </p:txBody>
      </p:sp>
    </p:spTree>
  </p:cSld>
  <p:clrMapOvr>
    <a:masterClrMapping/>
  </p:clrMapOvr>
  <p:transition spd="med"/>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96816-2EF0-4716-10CF-19764DF4C195}"/>
              </a:ext>
            </a:extLst>
          </p:cNvPr>
          <p:cNvSpPr>
            <a:spLocks noGrp="1"/>
          </p:cNvSpPr>
          <p:nvPr>
            <p:ph type="title"/>
          </p:nvPr>
        </p:nvSpPr>
        <p:spPr/>
        <p:txBody>
          <a:bodyPr/>
          <a:lstStyle/>
          <a:p>
            <a:r>
              <a:rPr lang="en-GB" dirty="0"/>
              <a:t>Why this matters</a:t>
            </a:r>
          </a:p>
        </p:txBody>
      </p:sp>
      <p:sp>
        <p:nvSpPr>
          <p:cNvPr id="3" name="Text Placeholder 2">
            <a:extLst>
              <a:ext uri="{FF2B5EF4-FFF2-40B4-BE49-F238E27FC236}">
                <a16:creationId xmlns:a16="http://schemas.microsoft.com/office/drawing/2014/main" id="{611C57A2-35EF-9180-CE83-01AE73F52993}"/>
              </a:ext>
            </a:extLst>
          </p:cNvPr>
          <p:cNvSpPr>
            <a:spLocks noGrp="1"/>
          </p:cNvSpPr>
          <p:nvPr>
            <p:ph type="body" sz="quarter" idx="21"/>
          </p:nvPr>
        </p:nvSpPr>
        <p:spPr/>
        <p:txBody>
          <a:bodyPr/>
          <a:lstStyle/>
          <a:p>
            <a:r>
              <a:rPr lang="en-GB" dirty="0"/>
              <a:t>What do the users care about?</a:t>
            </a:r>
          </a:p>
        </p:txBody>
      </p:sp>
      <p:sp>
        <p:nvSpPr>
          <p:cNvPr id="6" name="A. Semantic equivalence…">
            <a:extLst>
              <a:ext uri="{FF2B5EF4-FFF2-40B4-BE49-F238E27FC236}">
                <a16:creationId xmlns:a16="http://schemas.microsoft.com/office/drawing/2014/main" id="{786CF194-3961-9915-69D4-501CA5F86758}"/>
              </a:ext>
            </a:extLst>
          </p:cNvPr>
          <p:cNvSpPr/>
          <p:nvPr/>
        </p:nvSpPr>
        <p:spPr>
          <a:xfrm>
            <a:off x="6507095" y="6286604"/>
            <a:ext cx="5571987" cy="2860288"/>
          </a:xfrm>
          <a:prstGeom prst="roundRect">
            <a:avLst>
              <a:gd name="adj" fmla="val 5168"/>
            </a:avLst>
          </a:prstGeom>
          <a:solidFill>
            <a:schemeClr val="accent1">
              <a:lumMod val="50000"/>
            </a:schemeClr>
          </a:solid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lstStyle/>
          <a:p>
            <a:pPr marL="127000" marR="127000" algn="ctr" defTabSz="825500">
              <a:lnSpc>
                <a:spcPct val="100000"/>
              </a:lnSpc>
              <a:spcBef>
                <a:spcPts val="0"/>
              </a:spcBef>
              <a:defRPr sz="2400" b="1">
                <a:solidFill>
                  <a:srgbClr val="FFFFFF"/>
                </a:solidFill>
                <a:latin typeface="Arial"/>
                <a:ea typeface="Arial"/>
                <a:cs typeface="Arial"/>
                <a:sym typeface="Arial"/>
              </a:defRPr>
            </a:pPr>
            <a:r>
              <a:rPr lang="nb-NO" sz="4000"/>
              <a:t>Minimising duplicate work</a:t>
            </a:r>
            <a:endParaRPr sz="4000"/>
          </a:p>
        </p:txBody>
      </p:sp>
      <p:sp>
        <p:nvSpPr>
          <p:cNvPr id="8" name="A. Semantic equivalence…">
            <a:extLst>
              <a:ext uri="{FF2B5EF4-FFF2-40B4-BE49-F238E27FC236}">
                <a16:creationId xmlns:a16="http://schemas.microsoft.com/office/drawing/2014/main" id="{0D03BD1A-446C-690B-CA41-068F58D58DA3}"/>
              </a:ext>
            </a:extLst>
          </p:cNvPr>
          <p:cNvSpPr/>
          <p:nvPr/>
        </p:nvSpPr>
        <p:spPr>
          <a:xfrm>
            <a:off x="709266" y="4015409"/>
            <a:ext cx="22965468" cy="2046409"/>
          </a:xfrm>
          <a:prstGeom prst="roundRect">
            <a:avLst>
              <a:gd name="adj" fmla="val 10921"/>
            </a:avLst>
          </a:prstGeom>
          <a:solidFill>
            <a:srgbClr val="01102C"/>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p>
            <a:pPr marL="127000" marR="127000" algn="ctr" defTabSz="825500">
              <a:lnSpc>
                <a:spcPct val="100000"/>
              </a:lnSpc>
              <a:spcBef>
                <a:spcPts val="0"/>
              </a:spcBef>
              <a:defRPr sz="2400" b="1">
                <a:solidFill>
                  <a:srgbClr val="FFFFFF"/>
                </a:solidFill>
                <a:latin typeface="Arial"/>
                <a:ea typeface="Arial"/>
                <a:cs typeface="Arial"/>
                <a:sym typeface="Arial"/>
              </a:defRPr>
            </a:pPr>
            <a:r>
              <a:rPr lang="nb-NO" sz="4000"/>
              <a:t>Operational efficiency</a:t>
            </a:r>
            <a:endParaRPr sz="4000"/>
          </a:p>
        </p:txBody>
      </p:sp>
      <p:sp>
        <p:nvSpPr>
          <p:cNvPr id="12" name="A. Semantic equivalence…">
            <a:extLst>
              <a:ext uri="{FF2B5EF4-FFF2-40B4-BE49-F238E27FC236}">
                <a16:creationId xmlns:a16="http://schemas.microsoft.com/office/drawing/2014/main" id="{8D985F1E-76E2-E4BF-03CD-CD44E0465637}"/>
              </a:ext>
            </a:extLst>
          </p:cNvPr>
          <p:cNvSpPr/>
          <p:nvPr/>
        </p:nvSpPr>
        <p:spPr>
          <a:xfrm>
            <a:off x="12304921" y="6286604"/>
            <a:ext cx="5571987" cy="2860288"/>
          </a:xfrm>
          <a:prstGeom prst="roundRect">
            <a:avLst>
              <a:gd name="adj" fmla="val 5168"/>
            </a:avLst>
          </a:prstGeom>
          <a:solidFill>
            <a:schemeClr val="accent1">
              <a:lumMod val="50000"/>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p>
            <a:pPr marL="127000" marR="127000" algn="ctr" defTabSz="825500">
              <a:lnSpc>
                <a:spcPct val="100000"/>
              </a:lnSpc>
              <a:spcBef>
                <a:spcPts val="0"/>
              </a:spcBef>
              <a:defRPr sz="2400" b="1">
                <a:solidFill>
                  <a:srgbClr val="FFFFFF"/>
                </a:solidFill>
                <a:latin typeface="Arial"/>
                <a:ea typeface="Arial"/>
                <a:cs typeface="Arial"/>
                <a:sym typeface="Arial"/>
              </a:defRPr>
            </a:pPr>
            <a:r>
              <a:rPr lang="nb-NO" sz="4000"/>
              <a:t>Improved workflows</a:t>
            </a:r>
            <a:endParaRPr sz="4000"/>
          </a:p>
        </p:txBody>
      </p:sp>
      <p:sp>
        <p:nvSpPr>
          <p:cNvPr id="14" name="A. Semantic equivalence…">
            <a:extLst>
              <a:ext uri="{FF2B5EF4-FFF2-40B4-BE49-F238E27FC236}">
                <a16:creationId xmlns:a16="http://schemas.microsoft.com/office/drawing/2014/main" id="{05A03582-B7DF-D4C2-CCB4-1AC174C831D2}"/>
              </a:ext>
            </a:extLst>
          </p:cNvPr>
          <p:cNvSpPr/>
          <p:nvPr/>
        </p:nvSpPr>
        <p:spPr>
          <a:xfrm>
            <a:off x="6507094" y="9371678"/>
            <a:ext cx="5571987" cy="2860288"/>
          </a:xfrm>
          <a:prstGeom prst="roundRect">
            <a:avLst>
              <a:gd name="adj" fmla="val 5168"/>
            </a:avLst>
          </a:prstGeom>
          <a:solidFill>
            <a:schemeClr val="accent1">
              <a:lumMod val="50000"/>
            </a:schemeClr>
          </a:solid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lstStyle/>
          <a:p>
            <a:pPr marL="127000" marR="127000" algn="ctr" defTabSz="825500">
              <a:lnSpc>
                <a:spcPct val="100000"/>
              </a:lnSpc>
              <a:spcBef>
                <a:spcPts val="0"/>
              </a:spcBef>
              <a:defRPr sz="2400" b="1">
                <a:solidFill>
                  <a:srgbClr val="FFFFFF"/>
                </a:solidFill>
                <a:latin typeface="Arial"/>
                <a:ea typeface="Arial"/>
                <a:cs typeface="Arial"/>
                <a:sym typeface="Arial"/>
              </a:defRPr>
            </a:pPr>
            <a:r>
              <a:rPr lang="nb-NO" sz="4000"/>
              <a:t>Coverage across requirements</a:t>
            </a:r>
            <a:endParaRPr sz="4000"/>
          </a:p>
        </p:txBody>
      </p:sp>
      <p:sp>
        <p:nvSpPr>
          <p:cNvPr id="16" name="A. Semantic equivalence…">
            <a:extLst>
              <a:ext uri="{FF2B5EF4-FFF2-40B4-BE49-F238E27FC236}">
                <a16:creationId xmlns:a16="http://schemas.microsoft.com/office/drawing/2014/main" id="{5EBFB4A6-515D-10EA-6248-E2D6E661D177}"/>
              </a:ext>
            </a:extLst>
          </p:cNvPr>
          <p:cNvSpPr/>
          <p:nvPr/>
        </p:nvSpPr>
        <p:spPr>
          <a:xfrm>
            <a:off x="12304921" y="9371678"/>
            <a:ext cx="5571987" cy="2860288"/>
          </a:xfrm>
          <a:prstGeom prst="roundRect">
            <a:avLst>
              <a:gd name="adj" fmla="val 5168"/>
            </a:avLst>
          </a:prstGeom>
          <a:solidFill>
            <a:schemeClr val="accent1">
              <a:lumMod val="50000"/>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p>
            <a:pPr marL="127000" marR="127000" algn="ctr" defTabSz="825500">
              <a:lnSpc>
                <a:spcPct val="100000"/>
              </a:lnSpc>
              <a:spcBef>
                <a:spcPts val="0"/>
              </a:spcBef>
              <a:defRPr sz="2400" b="1">
                <a:solidFill>
                  <a:srgbClr val="FFFFFF"/>
                </a:solidFill>
                <a:latin typeface="Arial"/>
                <a:ea typeface="Arial"/>
                <a:cs typeface="Arial"/>
                <a:sym typeface="Arial"/>
              </a:defRPr>
            </a:pPr>
            <a:r>
              <a:rPr lang="nb-NO" sz="4000"/>
              <a:t>Improved evidencing</a:t>
            </a:r>
            <a:endParaRPr sz="4000"/>
          </a:p>
        </p:txBody>
      </p:sp>
      <p:sp>
        <p:nvSpPr>
          <p:cNvPr id="18" name="A. Semantic equivalence…">
            <a:extLst>
              <a:ext uri="{FF2B5EF4-FFF2-40B4-BE49-F238E27FC236}">
                <a16:creationId xmlns:a16="http://schemas.microsoft.com/office/drawing/2014/main" id="{C1AB2F9C-89F9-BFD7-E525-5F96C6457760}"/>
              </a:ext>
            </a:extLst>
          </p:cNvPr>
          <p:cNvSpPr/>
          <p:nvPr/>
        </p:nvSpPr>
        <p:spPr>
          <a:xfrm>
            <a:off x="709267" y="6316784"/>
            <a:ext cx="5571987" cy="2860288"/>
          </a:xfrm>
          <a:prstGeom prst="roundRect">
            <a:avLst>
              <a:gd name="adj" fmla="val 5168"/>
            </a:avLst>
          </a:prstGeom>
          <a:solidFill>
            <a:schemeClr val="accent1">
              <a:lumMod val="50000"/>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p>
            <a:pPr marL="127000" marR="127000" algn="ctr" defTabSz="825500">
              <a:lnSpc>
                <a:spcPct val="100000"/>
              </a:lnSpc>
              <a:spcBef>
                <a:spcPts val="0"/>
              </a:spcBef>
              <a:defRPr sz="2400" b="1">
                <a:solidFill>
                  <a:srgbClr val="FFFFFF"/>
                </a:solidFill>
                <a:latin typeface="Arial"/>
                <a:ea typeface="Arial"/>
                <a:cs typeface="Arial"/>
                <a:sym typeface="Arial"/>
              </a:defRPr>
            </a:pPr>
            <a:r>
              <a:rPr lang="nb-NO" sz="4000"/>
              <a:t>Simplify planning</a:t>
            </a:r>
            <a:endParaRPr sz="4000"/>
          </a:p>
        </p:txBody>
      </p:sp>
      <p:sp>
        <p:nvSpPr>
          <p:cNvPr id="20" name="A. Semantic equivalence…">
            <a:extLst>
              <a:ext uri="{FF2B5EF4-FFF2-40B4-BE49-F238E27FC236}">
                <a16:creationId xmlns:a16="http://schemas.microsoft.com/office/drawing/2014/main" id="{E1E96566-8C6B-2775-FCAE-5420179FC34E}"/>
              </a:ext>
            </a:extLst>
          </p:cNvPr>
          <p:cNvSpPr/>
          <p:nvPr/>
        </p:nvSpPr>
        <p:spPr>
          <a:xfrm>
            <a:off x="709266" y="9401858"/>
            <a:ext cx="5571987" cy="2860288"/>
          </a:xfrm>
          <a:prstGeom prst="roundRect">
            <a:avLst>
              <a:gd name="adj" fmla="val 5168"/>
            </a:avLst>
          </a:prstGeom>
          <a:solidFill>
            <a:schemeClr val="accent1">
              <a:lumMod val="50000"/>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p>
            <a:pPr marL="127000" marR="127000" algn="ctr" defTabSz="825500">
              <a:lnSpc>
                <a:spcPct val="100000"/>
              </a:lnSpc>
              <a:spcBef>
                <a:spcPts val="0"/>
              </a:spcBef>
              <a:defRPr sz="2400" b="1">
                <a:solidFill>
                  <a:srgbClr val="FFFFFF"/>
                </a:solidFill>
                <a:latin typeface="Arial"/>
                <a:ea typeface="Arial"/>
                <a:cs typeface="Arial"/>
                <a:sym typeface="Arial"/>
              </a:defRPr>
            </a:pPr>
            <a:r>
              <a:rPr lang="nb-NO" sz="4000"/>
              <a:t>Better oversight</a:t>
            </a:r>
          </a:p>
          <a:p>
            <a:pPr marL="127000" marR="127000" algn="ctr" defTabSz="825500">
              <a:lnSpc>
                <a:spcPct val="100000"/>
              </a:lnSpc>
              <a:spcBef>
                <a:spcPts val="0"/>
              </a:spcBef>
              <a:defRPr sz="2400" b="1">
                <a:solidFill>
                  <a:srgbClr val="FFFFFF"/>
                </a:solidFill>
                <a:latin typeface="Arial"/>
                <a:ea typeface="Arial"/>
                <a:cs typeface="Arial"/>
                <a:sym typeface="Arial"/>
              </a:defRPr>
            </a:pPr>
            <a:r>
              <a:rPr lang="nb-NO" sz="2400" i="1"/>
              <a:t>(to-do + completed)</a:t>
            </a:r>
            <a:endParaRPr sz="2400" i="1"/>
          </a:p>
        </p:txBody>
      </p:sp>
      <p:sp>
        <p:nvSpPr>
          <p:cNvPr id="22" name="A. Semantic equivalence…">
            <a:extLst>
              <a:ext uri="{FF2B5EF4-FFF2-40B4-BE49-F238E27FC236}">
                <a16:creationId xmlns:a16="http://schemas.microsoft.com/office/drawing/2014/main" id="{FDB542E9-428E-F04E-2190-250B51342F1A}"/>
              </a:ext>
            </a:extLst>
          </p:cNvPr>
          <p:cNvSpPr/>
          <p:nvPr/>
        </p:nvSpPr>
        <p:spPr>
          <a:xfrm>
            <a:off x="18102747" y="6286604"/>
            <a:ext cx="5571987" cy="2860288"/>
          </a:xfrm>
          <a:prstGeom prst="roundRect">
            <a:avLst>
              <a:gd name="adj" fmla="val 5168"/>
            </a:avLst>
          </a:prstGeom>
          <a:solidFill>
            <a:schemeClr val="accent1">
              <a:lumMod val="50000"/>
            </a:schemeClr>
          </a:solid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lstStyle/>
          <a:p>
            <a:pPr marL="127000" marR="127000" algn="ctr" defTabSz="825500">
              <a:lnSpc>
                <a:spcPct val="100000"/>
              </a:lnSpc>
              <a:spcBef>
                <a:spcPts val="0"/>
              </a:spcBef>
              <a:defRPr sz="2400" b="1">
                <a:solidFill>
                  <a:srgbClr val="FFFFFF"/>
                </a:solidFill>
                <a:latin typeface="Arial"/>
                <a:ea typeface="Arial"/>
                <a:cs typeface="Arial"/>
                <a:sym typeface="Arial"/>
              </a:defRPr>
            </a:pPr>
            <a:r>
              <a:rPr lang="nb-NO" sz="4000"/>
              <a:t>Interoperability across sytems and processes</a:t>
            </a:r>
            <a:endParaRPr sz="4000"/>
          </a:p>
        </p:txBody>
      </p:sp>
      <p:sp>
        <p:nvSpPr>
          <p:cNvPr id="24" name="A. Semantic equivalence…">
            <a:extLst>
              <a:ext uri="{FF2B5EF4-FFF2-40B4-BE49-F238E27FC236}">
                <a16:creationId xmlns:a16="http://schemas.microsoft.com/office/drawing/2014/main" id="{29CB8C50-3FB5-3CC1-B4C2-1DED213718C3}"/>
              </a:ext>
            </a:extLst>
          </p:cNvPr>
          <p:cNvSpPr/>
          <p:nvPr/>
        </p:nvSpPr>
        <p:spPr>
          <a:xfrm>
            <a:off x="18102747" y="9371678"/>
            <a:ext cx="5571987" cy="2860288"/>
          </a:xfrm>
          <a:prstGeom prst="roundRect">
            <a:avLst>
              <a:gd name="adj" fmla="val 5168"/>
            </a:avLst>
          </a:prstGeom>
          <a:solidFill>
            <a:schemeClr val="accent1">
              <a:lumMod val="50000"/>
            </a:schemeClr>
          </a:solid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lstStyle/>
          <a:p>
            <a:pPr marL="127000" marR="127000" algn="ctr" defTabSz="825500">
              <a:lnSpc>
                <a:spcPct val="100000"/>
              </a:lnSpc>
              <a:spcBef>
                <a:spcPts val="0"/>
              </a:spcBef>
              <a:defRPr sz="2400" b="1">
                <a:solidFill>
                  <a:srgbClr val="FFFFFF"/>
                </a:solidFill>
                <a:latin typeface="Arial"/>
                <a:ea typeface="Arial"/>
                <a:cs typeface="Arial"/>
                <a:sym typeface="Arial"/>
              </a:defRPr>
            </a:pPr>
            <a:r>
              <a:rPr lang="nb-NO" sz="4000"/>
              <a:t>Efficient audit and certification</a:t>
            </a:r>
            <a:endParaRPr sz="4000"/>
          </a:p>
        </p:txBody>
      </p:sp>
    </p:spTree>
    <p:extLst>
      <p:ext uri="{BB962C8B-B14F-4D97-AF65-F5344CB8AC3E}">
        <p14:creationId xmlns:p14="http://schemas.microsoft.com/office/powerpoint/2010/main" val="3998588579"/>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2C5D8-6C86-4E88-891E-A1FD11975658}"/>
            </a:ext>
          </a:extLst>
        </p:cNvPr>
        <p:cNvGrpSpPr/>
        <p:nvPr/>
      </p:nvGrpSpPr>
      <p:grpSpPr>
        <a:xfrm>
          <a:off x="0" y="0"/>
          <a:ext cx="0" cy="0"/>
          <a:chOff x="0" y="0"/>
          <a:chExt cx="0" cy="0"/>
        </a:xfrm>
      </p:grpSpPr>
      <p:sp>
        <p:nvSpPr>
          <p:cNvPr id="15" name="Rektangel 14">
            <a:extLst>
              <a:ext uri="{FF2B5EF4-FFF2-40B4-BE49-F238E27FC236}">
                <a16:creationId xmlns:a16="http://schemas.microsoft.com/office/drawing/2014/main" id="{4AF4A862-0566-2B8D-0926-EB15C42F8261}"/>
              </a:ext>
            </a:extLst>
          </p:cNvPr>
          <p:cNvSpPr/>
          <p:nvPr/>
        </p:nvSpPr>
        <p:spPr>
          <a:xfrm>
            <a:off x="6349621" y="3253901"/>
            <a:ext cx="8621486" cy="9382594"/>
          </a:xfrm>
          <a:prstGeom prst="rect">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1200"/>
              </a:spcBef>
            </a:pPr>
            <a:endParaRPr lang="nb-NO" sz="4000" err="1"/>
          </a:p>
        </p:txBody>
      </p:sp>
      <p:sp>
        <p:nvSpPr>
          <p:cNvPr id="2" name="Title 1">
            <a:extLst>
              <a:ext uri="{FF2B5EF4-FFF2-40B4-BE49-F238E27FC236}">
                <a16:creationId xmlns:a16="http://schemas.microsoft.com/office/drawing/2014/main" id="{ABF10C92-8AB1-DD97-EF8B-D9DDD93D590B}"/>
              </a:ext>
            </a:extLst>
          </p:cNvPr>
          <p:cNvSpPr>
            <a:spLocks noGrp="1"/>
          </p:cNvSpPr>
          <p:nvPr>
            <p:ph type="title"/>
          </p:nvPr>
        </p:nvSpPr>
        <p:spPr/>
        <p:txBody>
          <a:bodyPr>
            <a:normAutofit/>
          </a:bodyPr>
          <a:lstStyle/>
          <a:p>
            <a:r>
              <a:rPr lang="en-US" noProof="1">
                <a:ea typeface="+mj-lt"/>
                <a:cs typeface="+mj-lt"/>
              </a:rPr>
              <a:t>How this aligns with our five key use cases</a:t>
            </a:r>
            <a:endParaRPr lang="en-US" dirty="0"/>
          </a:p>
        </p:txBody>
      </p:sp>
      <p:sp>
        <p:nvSpPr>
          <p:cNvPr id="4" name="Slide Number Placeholder 3">
            <a:extLst>
              <a:ext uri="{FF2B5EF4-FFF2-40B4-BE49-F238E27FC236}">
                <a16:creationId xmlns:a16="http://schemas.microsoft.com/office/drawing/2014/main" id="{3FD77AA0-5F9B-422A-65F7-F4D323D987ED}"/>
              </a:ext>
            </a:extLst>
          </p:cNvPr>
          <p:cNvSpPr>
            <a:spLocks noGrp="1"/>
          </p:cNvSpPr>
          <p:nvPr>
            <p:ph type="sldNum" sz="quarter" idx="12"/>
          </p:nvPr>
        </p:nvSpPr>
        <p:spPr>
          <a:xfrm>
            <a:off x="12006215" y="13076008"/>
            <a:ext cx="359073" cy="379591"/>
          </a:xfrm>
        </p:spPr>
        <p:txBody>
          <a:bodyPr/>
          <a:lstStyle/>
          <a:p>
            <a:fld id="{5BA07366-CB75-4AA8-9E5B-928B849F427C}" type="slidenum">
              <a:rPr lang="en-US" noProof="1" smtClean="0"/>
              <a:t>4</a:t>
            </a:fld>
            <a:endParaRPr lang="en-US" noProof="1"/>
          </a:p>
        </p:txBody>
      </p:sp>
      <p:sp>
        <p:nvSpPr>
          <p:cNvPr id="8" name="Google Shape;61;p3">
            <a:extLst>
              <a:ext uri="{FF2B5EF4-FFF2-40B4-BE49-F238E27FC236}">
                <a16:creationId xmlns:a16="http://schemas.microsoft.com/office/drawing/2014/main" id="{D82AF97F-D312-0D62-B102-273C97E710F1}"/>
              </a:ext>
            </a:extLst>
          </p:cNvPr>
          <p:cNvSpPr/>
          <p:nvPr/>
        </p:nvSpPr>
        <p:spPr>
          <a:xfrm>
            <a:off x="6859167" y="3545966"/>
            <a:ext cx="4040994" cy="64008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a:buClr>
                <a:srgbClr val="1A2733"/>
              </a:buClr>
              <a:buSzPts val="1250"/>
            </a:pPr>
            <a:r>
              <a:rPr lang="en-US" sz="2500" b="1" noProof="1">
                <a:solidFill>
                  <a:schemeClr val="tx2"/>
                </a:solidFill>
                <a:latin typeface="Arial" panose="020B0604020202020204" pitchFamily="34" charset="0"/>
                <a:ea typeface="Calibri"/>
                <a:cs typeface="Arial" panose="020B0604020202020204" pitchFamily="34" charset="0"/>
                <a:sym typeface="Calibri"/>
              </a:rPr>
              <a:t>Opportunity (use cases)</a:t>
            </a:r>
            <a:endParaRPr lang="en-US" sz="2500" noProof="1">
              <a:solidFill>
                <a:schemeClr val="tx2"/>
              </a:solidFill>
              <a:latin typeface="Arial" panose="020B0604020202020204" pitchFamily="34" charset="0"/>
              <a:ea typeface="Calibri"/>
              <a:cs typeface="Arial" panose="020B0604020202020204" pitchFamily="34" charset="0"/>
              <a:sym typeface="Calibri"/>
            </a:endParaRPr>
          </a:p>
        </p:txBody>
      </p:sp>
      <p:sp>
        <p:nvSpPr>
          <p:cNvPr id="14" name="Google Shape;67;p3">
            <a:extLst>
              <a:ext uri="{FF2B5EF4-FFF2-40B4-BE49-F238E27FC236}">
                <a16:creationId xmlns:a16="http://schemas.microsoft.com/office/drawing/2014/main" id="{82D62E53-0AB0-72A7-F8D3-303D3E31BBDD}"/>
              </a:ext>
            </a:extLst>
          </p:cNvPr>
          <p:cNvSpPr/>
          <p:nvPr/>
        </p:nvSpPr>
        <p:spPr>
          <a:xfrm>
            <a:off x="15602373" y="6153482"/>
            <a:ext cx="6863970" cy="768096"/>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a:buClr>
                <a:srgbClr val="5A6A7A"/>
              </a:buClr>
              <a:buSzPts val="1100"/>
            </a:pPr>
            <a:r>
              <a:rPr lang="en-US" sz="2200" noProof="1">
                <a:solidFill>
                  <a:schemeClr val="tx2"/>
                </a:solidFill>
                <a:ea typeface="Calibri"/>
                <a:sym typeface="Calibri"/>
              </a:rPr>
              <a:t>Strongest technical differentiator. Digitial model of the asset is the foundation to the Smarter Compliance solution.</a:t>
            </a:r>
          </a:p>
        </p:txBody>
      </p:sp>
      <p:sp>
        <p:nvSpPr>
          <p:cNvPr id="19" name="Google Shape;72;p3">
            <a:extLst>
              <a:ext uri="{FF2B5EF4-FFF2-40B4-BE49-F238E27FC236}">
                <a16:creationId xmlns:a16="http://schemas.microsoft.com/office/drawing/2014/main" id="{745EB25B-B6AE-D5BD-0469-57768B283764}"/>
              </a:ext>
            </a:extLst>
          </p:cNvPr>
          <p:cNvSpPr/>
          <p:nvPr/>
        </p:nvSpPr>
        <p:spPr>
          <a:xfrm>
            <a:off x="15602373" y="4317168"/>
            <a:ext cx="6863970" cy="768096"/>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US" sz="2200" noProof="1">
                <a:solidFill>
                  <a:schemeClr val="tx2"/>
                </a:solidFill>
                <a:ea typeface="Calibri"/>
                <a:sym typeface="Calibri"/>
              </a:rPr>
              <a:t>Fastest path to visible customer value. </a:t>
            </a:r>
            <a:endParaRPr lang="en-US" sz="2800">
              <a:solidFill>
                <a:schemeClr val="tx2"/>
              </a:solidFill>
            </a:endParaRPr>
          </a:p>
        </p:txBody>
      </p:sp>
      <p:cxnSp>
        <p:nvCxnSpPr>
          <p:cNvPr id="20" name="Google Shape;73;p3">
            <a:extLst>
              <a:ext uri="{FF2B5EF4-FFF2-40B4-BE49-F238E27FC236}">
                <a16:creationId xmlns:a16="http://schemas.microsoft.com/office/drawing/2014/main" id="{3D5FBB49-BC08-FD21-EF5F-9DC613B68EDA}"/>
              </a:ext>
            </a:extLst>
          </p:cNvPr>
          <p:cNvCxnSpPr>
            <a:cxnSpLocks/>
          </p:cNvCxnSpPr>
          <p:nvPr/>
        </p:nvCxnSpPr>
        <p:spPr>
          <a:xfrm>
            <a:off x="1079500" y="7453336"/>
            <a:ext cx="21022056" cy="0"/>
          </a:xfrm>
          <a:prstGeom prst="straightConnector1">
            <a:avLst/>
          </a:prstGeom>
          <a:noFill/>
          <a:ln w="9525" cap="flat" cmpd="sng">
            <a:solidFill>
              <a:srgbClr val="DDDDDD"/>
            </a:solidFill>
            <a:prstDash val="solid"/>
            <a:round/>
            <a:headEnd type="none" w="sm" len="sm"/>
            <a:tailEnd type="none" w="sm" len="sm"/>
          </a:ln>
        </p:spPr>
      </p:cxnSp>
      <p:sp>
        <p:nvSpPr>
          <p:cNvPr id="24" name="Google Shape;77;p3">
            <a:extLst>
              <a:ext uri="{FF2B5EF4-FFF2-40B4-BE49-F238E27FC236}">
                <a16:creationId xmlns:a16="http://schemas.microsoft.com/office/drawing/2014/main" id="{FE6A50AA-7EC8-C3E7-2657-FE504E095B92}"/>
              </a:ext>
            </a:extLst>
          </p:cNvPr>
          <p:cNvSpPr/>
          <p:nvPr/>
        </p:nvSpPr>
        <p:spPr>
          <a:xfrm>
            <a:off x="15602377" y="7923826"/>
            <a:ext cx="6863970" cy="768096"/>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US" sz="2200" noProof="1">
                <a:solidFill>
                  <a:schemeClr val="tx2"/>
                </a:solidFill>
                <a:ea typeface="Calibri"/>
                <a:sym typeface="Calibri"/>
              </a:rPr>
              <a:t>Largest scaling opportunity across regulations, and positioning DNV as a holistic partner across domains.</a:t>
            </a:r>
            <a:endParaRPr lang="en-US" sz="2800"/>
          </a:p>
        </p:txBody>
      </p:sp>
      <p:cxnSp>
        <p:nvCxnSpPr>
          <p:cNvPr id="25" name="Google Shape;78;p3">
            <a:extLst>
              <a:ext uri="{FF2B5EF4-FFF2-40B4-BE49-F238E27FC236}">
                <a16:creationId xmlns:a16="http://schemas.microsoft.com/office/drawing/2014/main" id="{3C0BDE74-8106-0E6A-52AF-C342175527E4}"/>
              </a:ext>
            </a:extLst>
          </p:cNvPr>
          <p:cNvCxnSpPr>
            <a:cxnSpLocks/>
          </p:cNvCxnSpPr>
          <p:nvPr/>
        </p:nvCxnSpPr>
        <p:spPr>
          <a:xfrm>
            <a:off x="1079500" y="9160614"/>
            <a:ext cx="21022056" cy="0"/>
          </a:xfrm>
          <a:prstGeom prst="straightConnector1">
            <a:avLst/>
          </a:prstGeom>
          <a:noFill/>
          <a:ln w="9525" cap="flat" cmpd="sng">
            <a:solidFill>
              <a:srgbClr val="DDDDDD"/>
            </a:solidFill>
            <a:prstDash val="solid"/>
            <a:round/>
            <a:headEnd type="none" w="sm" len="sm"/>
            <a:tailEnd type="none" w="sm" len="sm"/>
          </a:ln>
        </p:spPr>
      </p:cxnSp>
      <p:sp>
        <p:nvSpPr>
          <p:cNvPr id="29" name="Google Shape;82;p3">
            <a:extLst>
              <a:ext uri="{FF2B5EF4-FFF2-40B4-BE49-F238E27FC236}">
                <a16:creationId xmlns:a16="http://schemas.microsoft.com/office/drawing/2014/main" id="{AE155356-3BBC-01E3-0969-5A062247827F}"/>
              </a:ext>
            </a:extLst>
          </p:cNvPr>
          <p:cNvSpPr/>
          <p:nvPr/>
        </p:nvSpPr>
        <p:spPr>
          <a:xfrm>
            <a:off x="15602377" y="9666816"/>
            <a:ext cx="6863970" cy="768096"/>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US" sz="2200" noProof="1">
                <a:solidFill>
                  <a:schemeClr val="tx2"/>
                </a:solidFill>
              </a:rPr>
              <a:t>A differentiator for existing DNV services - improving customer experience and enabling more efficient service delivery.</a:t>
            </a:r>
            <a:endParaRPr lang="en-US" sz="2800">
              <a:solidFill>
                <a:schemeClr val="tx2"/>
              </a:solidFill>
            </a:endParaRPr>
          </a:p>
        </p:txBody>
      </p:sp>
      <p:sp>
        <p:nvSpPr>
          <p:cNvPr id="5" name="Google Shape;67;p3">
            <a:extLst>
              <a:ext uri="{FF2B5EF4-FFF2-40B4-BE49-F238E27FC236}">
                <a16:creationId xmlns:a16="http://schemas.microsoft.com/office/drawing/2014/main" id="{10441985-D11F-E389-19C9-7B72C228A7D9}"/>
              </a:ext>
            </a:extLst>
          </p:cNvPr>
          <p:cNvSpPr/>
          <p:nvPr/>
        </p:nvSpPr>
        <p:spPr>
          <a:xfrm>
            <a:off x="6859162" y="6153482"/>
            <a:ext cx="7550368" cy="768096"/>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US" sz="2200" b="1" noProof="1">
                <a:ea typeface="Calibri"/>
              </a:rPr>
              <a:t>Asset Context &amp; Visibility</a:t>
            </a:r>
            <a:br>
              <a:rPr lang="en-US" sz="2200" noProof="1">
                <a:ea typeface="Calibri"/>
              </a:rPr>
            </a:br>
            <a:r>
              <a:rPr lang="en-GB" sz="2200" noProof="1">
                <a:solidFill>
                  <a:schemeClr val="tx2"/>
                </a:solidFill>
                <a:ea typeface="Calibri"/>
              </a:rPr>
              <a:t>Maintain a digital operational view of assets, environment, and context. </a:t>
            </a:r>
            <a:endParaRPr lang="en-US" sz="2200" noProof="1">
              <a:solidFill>
                <a:schemeClr val="tx2"/>
              </a:solidFill>
              <a:ea typeface="Calibri"/>
            </a:endParaRPr>
          </a:p>
        </p:txBody>
      </p:sp>
      <p:sp>
        <p:nvSpPr>
          <p:cNvPr id="30" name="Google Shape;72;p3">
            <a:extLst>
              <a:ext uri="{FF2B5EF4-FFF2-40B4-BE49-F238E27FC236}">
                <a16:creationId xmlns:a16="http://schemas.microsoft.com/office/drawing/2014/main" id="{0673A6DE-1543-5509-9B6C-A1A486580428}"/>
              </a:ext>
            </a:extLst>
          </p:cNvPr>
          <p:cNvSpPr/>
          <p:nvPr/>
        </p:nvSpPr>
        <p:spPr>
          <a:xfrm>
            <a:off x="6859162" y="4317168"/>
            <a:ext cx="7550368" cy="768096"/>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US" sz="2200" b="1" noProof="1">
                <a:ea typeface="Calibri"/>
              </a:rPr>
              <a:t>Smart Planning &amp; Execution</a:t>
            </a:r>
            <a:br>
              <a:rPr lang="en-US" sz="2200" noProof="1">
                <a:ea typeface="Calibri"/>
              </a:rPr>
            </a:br>
            <a:r>
              <a:rPr lang="en-US" sz="2200" noProof="1">
                <a:solidFill>
                  <a:schemeClr val="tx2"/>
                </a:solidFill>
                <a:ea typeface="Calibri"/>
              </a:rPr>
              <a:t>Automatically translate requirements into scheduled and traceable activities.</a:t>
            </a:r>
            <a:endParaRPr lang="en-US" sz="2800">
              <a:solidFill>
                <a:schemeClr val="tx2"/>
              </a:solidFill>
              <a:ea typeface="Calibri"/>
            </a:endParaRPr>
          </a:p>
        </p:txBody>
      </p:sp>
      <p:sp>
        <p:nvSpPr>
          <p:cNvPr id="31" name="Google Shape;77;p3">
            <a:extLst>
              <a:ext uri="{FF2B5EF4-FFF2-40B4-BE49-F238E27FC236}">
                <a16:creationId xmlns:a16="http://schemas.microsoft.com/office/drawing/2014/main" id="{FF984DF5-6B9D-FAD8-1C07-1D4BBA9A98E8}"/>
              </a:ext>
            </a:extLst>
          </p:cNvPr>
          <p:cNvSpPr/>
          <p:nvPr/>
        </p:nvSpPr>
        <p:spPr>
          <a:xfrm>
            <a:off x="6859166" y="7923826"/>
            <a:ext cx="7550368" cy="768096"/>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GB" sz="2200" b="1"/>
              <a:t>Requirements Coverage &amp; Overview</a:t>
            </a:r>
            <a:br>
              <a:rPr lang="en-GB" sz="2200"/>
            </a:br>
            <a:r>
              <a:rPr lang="en-GB" sz="2200">
                <a:solidFill>
                  <a:schemeClr val="tx2"/>
                </a:solidFill>
              </a:rPr>
              <a:t>Manage all relevant requirements in a single operational framework.</a:t>
            </a:r>
            <a:endParaRPr lang="en-US" sz="2800">
              <a:solidFill>
                <a:schemeClr val="tx2"/>
              </a:solidFill>
            </a:endParaRPr>
          </a:p>
        </p:txBody>
      </p:sp>
      <p:sp>
        <p:nvSpPr>
          <p:cNvPr id="32" name="Google Shape;82;p3">
            <a:extLst>
              <a:ext uri="{FF2B5EF4-FFF2-40B4-BE49-F238E27FC236}">
                <a16:creationId xmlns:a16="http://schemas.microsoft.com/office/drawing/2014/main" id="{2E4099EE-28FA-BD58-82E4-C8D13BAD84F3}"/>
              </a:ext>
            </a:extLst>
          </p:cNvPr>
          <p:cNvSpPr/>
          <p:nvPr/>
        </p:nvSpPr>
        <p:spPr>
          <a:xfrm>
            <a:off x="6859166" y="9666816"/>
            <a:ext cx="7550368" cy="768096"/>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US" sz="2200" b="1" noProof="1">
                <a:ea typeface="Calibri"/>
              </a:rPr>
              <a:t>Audit &amp; Certification Readiness</a:t>
            </a:r>
            <a:br>
              <a:rPr lang="en-US" sz="2200" noProof="1">
                <a:ea typeface="Calibri"/>
              </a:rPr>
            </a:br>
            <a:r>
              <a:rPr lang="en-US" sz="2200" noProof="1">
                <a:solidFill>
                  <a:schemeClr val="tx2"/>
                </a:solidFill>
                <a:ea typeface="Calibri"/>
                <a:sym typeface="Calibri"/>
              </a:rPr>
              <a:t>Provide continuous compliance status and readiness, while removing duplicate reporting.</a:t>
            </a:r>
            <a:endParaRPr lang="en-US" sz="2800">
              <a:solidFill>
                <a:schemeClr val="tx2"/>
              </a:solidFill>
            </a:endParaRPr>
          </a:p>
        </p:txBody>
      </p:sp>
      <p:sp>
        <p:nvSpPr>
          <p:cNvPr id="33" name="Google Shape;61;p3">
            <a:extLst>
              <a:ext uri="{FF2B5EF4-FFF2-40B4-BE49-F238E27FC236}">
                <a16:creationId xmlns:a16="http://schemas.microsoft.com/office/drawing/2014/main" id="{0F72E7FB-6AF1-988B-D4F3-FBBE59AADC57}"/>
              </a:ext>
            </a:extLst>
          </p:cNvPr>
          <p:cNvSpPr/>
          <p:nvPr/>
        </p:nvSpPr>
        <p:spPr>
          <a:xfrm>
            <a:off x="15353584" y="3545966"/>
            <a:ext cx="4572000" cy="64008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a:buClr>
                <a:srgbClr val="1A2733"/>
              </a:buClr>
              <a:buSzPts val="1250"/>
            </a:pPr>
            <a:r>
              <a:rPr lang="en-US" sz="2500" b="1" noProof="1">
                <a:solidFill>
                  <a:schemeClr val="tx2"/>
                </a:solidFill>
                <a:latin typeface="Arial" panose="020B0604020202020204" pitchFamily="34" charset="0"/>
                <a:ea typeface="Calibri"/>
                <a:cs typeface="Arial" panose="020B0604020202020204" pitchFamily="34" charset="0"/>
                <a:sym typeface="Calibri"/>
              </a:rPr>
              <a:t>Why prioritize?</a:t>
            </a:r>
            <a:endParaRPr lang="en-US" sz="2500" noProof="1">
              <a:solidFill>
                <a:schemeClr val="tx2"/>
              </a:solidFill>
              <a:latin typeface="Arial" panose="020B0604020202020204" pitchFamily="34" charset="0"/>
              <a:ea typeface="Calibri"/>
              <a:cs typeface="Arial" panose="020B0604020202020204" pitchFamily="34" charset="0"/>
              <a:sym typeface="Calibri"/>
            </a:endParaRPr>
          </a:p>
        </p:txBody>
      </p:sp>
      <p:sp>
        <p:nvSpPr>
          <p:cNvPr id="34" name="Google Shape;61;p3">
            <a:extLst>
              <a:ext uri="{FF2B5EF4-FFF2-40B4-BE49-F238E27FC236}">
                <a16:creationId xmlns:a16="http://schemas.microsoft.com/office/drawing/2014/main" id="{C5961081-5403-0B6A-7C7E-F8961FAE3DDB}"/>
              </a:ext>
            </a:extLst>
          </p:cNvPr>
          <p:cNvSpPr/>
          <p:nvPr/>
        </p:nvSpPr>
        <p:spPr>
          <a:xfrm>
            <a:off x="1079500" y="3464812"/>
            <a:ext cx="3122736" cy="64008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a:buClr>
                <a:srgbClr val="1A2733"/>
              </a:buClr>
              <a:buSzPts val="1250"/>
            </a:pPr>
            <a:r>
              <a:rPr lang="en-US" sz="2500" b="1" noProof="1">
                <a:solidFill>
                  <a:schemeClr val="tx2"/>
                </a:solidFill>
                <a:latin typeface="Arial" panose="020B0604020202020204" pitchFamily="34" charset="0"/>
                <a:ea typeface="Calibri"/>
                <a:cs typeface="Arial" panose="020B0604020202020204" pitchFamily="34" charset="0"/>
                <a:sym typeface="Calibri"/>
              </a:rPr>
              <a:t>Problem/need</a:t>
            </a:r>
            <a:endParaRPr lang="en-US" sz="2500" noProof="1">
              <a:solidFill>
                <a:schemeClr val="tx2"/>
              </a:solidFill>
              <a:latin typeface="Arial" panose="020B0604020202020204" pitchFamily="34" charset="0"/>
              <a:ea typeface="Calibri"/>
              <a:cs typeface="Arial" panose="020B0604020202020204" pitchFamily="34" charset="0"/>
              <a:sym typeface="Calibri"/>
            </a:endParaRPr>
          </a:p>
        </p:txBody>
      </p:sp>
      <p:sp>
        <p:nvSpPr>
          <p:cNvPr id="9" name="Google Shape;62;p3">
            <a:extLst>
              <a:ext uri="{FF2B5EF4-FFF2-40B4-BE49-F238E27FC236}">
                <a16:creationId xmlns:a16="http://schemas.microsoft.com/office/drawing/2014/main" id="{448A88CA-EF19-85AB-327E-074FF94739DC}"/>
              </a:ext>
            </a:extLst>
          </p:cNvPr>
          <p:cNvSpPr/>
          <p:nvPr/>
        </p:nvSpPr>
        <p:spPr>
          <a:xfrm>
            <a:off x="15600243" y="11316630"/>
            <a:ext cx="6863970" cy="768096"/>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US" sz="2200" noProof="1">
                <a:solidFill>
                  <a:schemeClr val="tx2"/>
                </a:solidFill>
                <a:ea typeface="Calibri"/>
                <a:sym typeface="Calibri"/>
              </a:rPr>
              <a:t>Strongest demand across customer segments.</a:t>
            </a:r>
            <a:endParaRPr lang="en-US" sz="2800">
              <a:solidFill>
                <a:schemeClr val="tx2"/>
              </a:solidFill>
            </a:endParaRPr>
          </a:p>
        </p:txBody>
      </p:sp>
      <p:sp>
        <p:nvSpPr>
          <p:cNvPr id="3" name="Google Shape;62;p3">
            <a:extLst>
              <a:ext uri="{FF2B5EF4-FFF2-40B4-BE49-F238E27FC236}">
                <a16:creationId xmlns:a16="http://schemas.microsoft.com/office/drawing/2014/main" id="{F1393C18-2B0E-D6D4-CE5A-C2E5F50ECE22}"/>
              </a:ext>
            </a:extLst>
          </p:cNvPr>
          <p:cNvSpPr/>
          <p:nvPr/>
        </p:nvSpPr>
        <p:spPr>
          <a:xfrm>
            <a:off x="6859168" y="11210918"/>
            <a:ext cx="7550368" cy="768096"/>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US" sz="2200" b="1" noProof="1">
                <a:ea typeface="Calibri"/>
              </a:rPr>
              <a:t>Integrated Assurance &amp; Operations</a:t>
            </a:r>
            <a:br>
              <a:rPr lang="en-US" sz="2200" noProof="1">
                <a:ea typeface="Calibri"/>
              </a:rPr>
            </a:br>
            <a:r>
              <a:rPr lang="en-US" sz="2200" noProof="1">
                <a:solidFill>
                  <a:schemeClr val="tx2"/>
                </a:solidFill>
                <a:ea typeface="Calibri"/>
                <a:sym typeface="Calibri"/>
              </a:rPr>
              <a:t>Embed assurance into existing operations, tools and workflows.</a:t>
            </a:r>
            <a:endParaRPr lang="en-US" sz="2800">
              <a:solidFill>
                <a:schemeClr val="tx2"/>
              </a:solidFill>
            </a:endParaRPr>
          </a:p>
        </p:txBody>
      </p:sp>
      <p:sp>
        <p:nvSpPr>
          <p:cNvPr id="35" name="Google Shape;62;p3">
            <a:extLst>
              <a:ext uri="{FF2B5EF4-FFF2-40B4-BE49-F238E27FC236}">
                <a16:creationId xmlns:a16="http://schemas.microsoft.com/office/drawing/2014/main" id="{4452936A-EC1C-90B4-8445-7FB7E542846A}"/>
              </a:ext>
            </a:extLst>
          </p:cNvPr>
          <p:cNvSpPr/>
          <p:nvPr/>
        </p:nvSpPr>
        <p:spPr>
          <a:xfrm>
            <a:off x="1079500" y="11210918"/>
            <a:ext cx="4586828" cy="118872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a:buClr>
                <a:srgbClr val="5A6A7A"/>
              </a:buClr>
              <a:buSzPts val="1100"/>
            </a:pPr>
            <a:r>
              <a:rPr lang="en-US" sz="2200" noProof="1">
                <a:solidFill>
                  <a:schemeClr val="tx2"/>
                </a:solidFill>
                <a:latin typeface="Arial" panose="020B0604020202020204" pitchFamily="34" charset="0"/>
                <a:ea typeface="Calibri"/>
                <a:cs typeface="Arial" panose="020B0604020202020204" pitchFamily="34" charset="0"/>
                <a:sym typeface="Calibri"/>
              </a:rPr>
              <a:t>Handle operational and compliance processes in a fragmented system and process landscape.</a:t>
            </a:r>
          </a:p>
        </p:txBody>
      </p:sp>
      <p:sp>
        <p:nvSpPr>
          <p:cNvPr id="6" name="Google Shape;62;p3">
            <a:extLst>
              <a:ext uri="{FF2B5EF4-FFF2-40B4-BE49-F238E27FC236}">
                <a16:creationId xmlns:a16="http://schemas.microsoft.com/office/drawing/2014/main" id="{B1EC33AF-54F3-1A69-C3B0-545B4AD3BA3E}"/>
              </a:ext>
            </a:extLst>
          </p:cNvPr>
          <p:cNvSpPr/>
          <p:nvPr/>
        </p:nvSpPr>
        <p:spPr>
          <a:xfrm>
            <a:off x="1079500" y="9419892"/>
            <a:ext cx="4586828" cy="118872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a:buClr>
                <a:srgbClr val="5A6A7A"/>
              </a:buClr>
              <a:buSzPts val="1100"/>
              <a:buFont typeface="Calibri"/>
            </a:pPr>
            <a:r>
              <a:rPr lang="en-US" sz="2200" noProof="1">
                <a:solidFill>
                  <a:schemeClr val="tx2"/>
                </a:solidFill>
                <a:ea typeface="Calibri"/>
                <a:sym typeface="Calibri"/>
              </a:rPr>
              <a:t>Compliance is an ad hoc activitiy, “skippertak” every one to five years with different ways of reporting the same data point.</a:t>
            </a:r>
            <a:endParaRPr lang="en-US" sz="2200" noProof="1">
              <a:solidFill>
                <a:schemeClr val="tx2"/>
              </a:solidFill>
              <a:latin typeface="Arial" panose="020B0604020202020204" pitchFamily="34" charset="0"/>
              <a:ea typeface="Calibri"/>
              <a:cs typeface="Arial" panose="020B0604020202020204" pitchFamily="34" charset="0"/>
            </a:endParaRPr>
          </a:p>
        </p:txBody>
      </p:sp>
      <p:sp>
        <p:nvSpPr>
          <p:cNvPr id="36" name="Google Shape;62;p3">
            <a:extLst>
              <a:ext uri="{FF2B5EF4-FFF2-40B4-BE49-F238E27FC236}">
                <a16:creationId xmlns:a16="http://schemas.microsoft.com/office/drawing/2014/main" id="{33665BEE-52CE-32BD-9DAB-FC00B68EACE9}"/>
              </a:ext>
            </a:extLst>
          </p:cNvPr>
          <p:cNvSpPr/>
          <p:nvPr/>
        </p:nvSpPr>
        <p:spPr>
          <a:xfrm>
            <a:off x="1079500" y="6153483"/>
            <a:ext cx="4586828" cy="841246"/>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a:buClr>
                <a:srgbClr val="5A6A7A"/>
              </a:buClr>
              <a:buSzPts val="1100"/>
            </a:pPr>
            <a:r>
              <a:rPr lang="en-US" sz="2200" noProof="1">
                <a:solidFill>
                  <a:schemeClr val="tx2"/>
                </a:solidFill>
                <a:latin typeface="Arial" panose="020B0604020202020204" pitchFamily="34" charset="0"/>
                <a:ea typeface="Calibri"/>
                <a:cs typeface="Arial" panose="020B0604020202020204" pitchFamily="34" charset="0"/>
                <a:sym typeface="Calibri"/>
              </a:rPr>
              <a:t>Lack of control of what assets they currently have and their context.</a:t>
            </a:r>
          </a:p>
        </p:txBody>
      </p:sp>
      <p:sp>
        <p:nvSpPr>
          <p:cNvPr id="7" name="Google Shape;62;p3">
            <a:extLst>
              <a:ext uri="{FF2B5EF4-FFF2-40B4-BE49-F238E27FC236}">
                <a16:creationId xmlns:a16="http://schemas.microsoft.com/office/drawing/2014/main" id="{DA864664-3257-4C2C-890F-1BA8FCC2C15E}"/>
              </a:ext>
            </a:extLst>
          </p:cNvPr>
          <p:cNvSpPr/>
          <p:nvPr/>
        </p:nvSpPr>
        <p:spPr>
          <a:xfrm>
            <a:off x="1079500" y="7923826"/>
            <a:ext cx="4586828" cy="118872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a:buClr>
                <a:srgbClr val="5A6A7A"/>
              </a:buClr>
              <a:buSzPts val="1100"/>
            </a:pPr>
            <a:r>
              <a:rPr lang="en-US" sz="2200" noProof="1">
                <a:solidFill>
                  <a:schemeClr val="tx2"/>
                </a:solidFill>
                <a:latin typeface="Arial" panose="020B0604020202020204" pitchFamily="34" charset="0"/>
                <a:ea typeface="Calibri"/>
                <a:cs typeface="Arial" panose="020B0604020202020204" pitchFamily="34" charset="0"/>
                <a:sym typeface="Calibri"/>
              </a:rPr>
              <a:t>An assessment or work is completed in one domain at a time, causing duplication of work across systems.</a:t>
            </a:r>
          </a:p>
        </p:txBody>
      </p:sp>
      <p:cxnSp>
        <p:nvCxnSpPr>
          <p:cNvPr id="11" name="Google Shape;78;p3">
            <a:extLst>
              <a:ext uri="{FF2B5EF4-FFF2-40B4-BE49-F238E27FC236}">
                <a16:creationId xmlns:a16="http://schemas.microsoft.com/office/drawing/2014/main" id="{7D752D93-F1A3-1472-4889-B2FF3BB956C8}"/>
              </a:ext>
            </a:extLst>
          </p:cNvPr>
          <p:cNvCxnSpPr>
            <a:cxnSpLocks/>
          </p:cNvCxnSpPr>
          <p:nvPr/>
        </p:nvCxnSpPr>
        <p:spPr>
          <a:xfrm>
            <a:off x="1079500" y="10867890"/>
            <a:ext cx="21022056" cy="0"/>
          </a:xfrm>
          <a:prstGeom prst="straightConnector1">
            <a:avLst/>
          </a:prstGeom>
          <a:noFill/>
          <a:ln w="9525" cap="flat" cmpd="sng">
            <a:solidFill>
              <a:srgbClr val="DDDDDD"/>
            </a:solidFill>
            <a:prstDash val="solid"/>
            <a:round/>
            <a:headEnd type="none" w="sm" len="sm"/>
            <a:tailEnd type="none" w="sm" len="sm"/>
          </a:ln>
        </p:spPr>
      </p:cxnSp>
      <p:cxnSp>
        <p:nvCxnSpPr>
          <p:cNvPr id="12" name="Google Shape;73;p3">
            <a:extLst>
              <a:ext uri="{FF2B5EF4-FFF2-40B4-BE49-F238E27FC236}">
                <a16:creationId xmlns:a16="http://schemas.microsoft.com/office/drawing/2014/main" id="{DDB2B164-0FEA-C179-19C5-E25DDCF1EB5B}"/>
              </a:ext>
            </a:extLst>
          </p:cNvPr>
          <p:cNvCxnSpPr>
            <a:cxnSpLocks/>
          </p:cNvCxnSpPr>
          <p:nvPr/>
        </p:nvCxnSpPr>
        <p:spPr>
          <a:xfrm>
            <a:off x="1079500" y="5746058"/>
            <a:ext cx="21022056" cy="0"/>
          </a:xfrm>
          <a:prstGeom prst="straightConnector1">
            <a:avLst/>
          </a:prstGeom>
          <a:noFill/>
          <a:ln w="9525" cap="flat" cmpd="sng">
            <a:solidFill>
              <a:srgbClr val="DDDDDD"/>
            </a:solidFill>
            <a:prstDash val="solid"/>
            <a:round/>
            <a:headEnd type="none" w="sm" len="sm"/>
            <a:tailEnd type="none" w="sm" len="sm"/>
          </a:ln>
        </p:spPr>
      </p:cxnSp>
      <p:sp>
        <p:nvSpPr>
          <p:cNvPr id="13" name="Google Shape;62;p3">
            <a:extLst>
              <a:ext uri="{FF2B5EF4-FFF2-40B4-BE49-F238E27FC236}">
                <a16:creationId xmlns:a16="http://schemas.microsoft.com/office/drawing/2014/main" id="{0F051F32-F43A-C5F0-D7D1-9975DEEEBB1F}"/>
              </a:ext>
            </a:extLst>
          </p:cNvPr>
          <p:cNvSpPr/>
          <p:nvPr/>
        </p:nvSpPr>
        <p:spPr>
          <a:xfrm>
            <a:off x="1079500" y="4317169"/>
            <a:ext cx="4586828" cy="841246"/>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a:buClr>
                <a:srgbClr val="5A6A7A"/>
              </a:buClr>
              <a:buSzPts val="1100"/>
            </a:pPr>
            <a:r>
              <a:rPr lang="en-US" sz="2200" noProof="1">
                <a:solidFill>
                  <a:schemeClr val="tx2"/>
                </a:solidFill>
                <a:latin typeface="Arial" panose="020B0604020202020204" pitchFamily="34" charset="0"/>
                <a:ea typeface="Calibri"/>
                <a:cs typeface="Arial" panose="020B0604020202020204" pitchFamily="34" charset="0"/>
                <a:sym typeface="Calibri"/>
              </a:rPr>
              <a:t>Manual handling of tasks and lack of overview of needed tasks to fulfill requirements.</a:t>
            </a:r>
          </a:p>
        </p:txBody>
      </p:sp>
      <p:sp>
        <p:nvSpPr>
          <p:cNvPr id="10" name="Star: 5 Points 9">
            <a:extLst>
              <a:ext uri="{FF2B5EF4-FFF2-40B4-BE49-F238E27FC236}">
                <a16:creationId xmlns:a16="http://schemas.microsoft.com/office/drawing/2014/main" id="{21506C99-009F-6045-EE15-86E5C3CC774E}"/>
              </a:ext>
            </a:extLst>
          </p:cNvPr>
          <p:cNvSpPr/>
          <p:nvPr/>
        </p:nvSpPr>
        <p:spPr>
          <a:xfrm>
            <a:off x="14033083" y="4417287"/>
            <a:ext cx="752894" cy="716045"/>
          </a:xfrm>
          <a:prstGeom prst="star5">
            <a:avLst>
              <a:gd name="adj" fmla="val 26231"/>
              <a:gd name="hf" fmla="val 105146"/>
              <a:gd name="vf" fmla="val 110557"/>
            </a:avLst>
          </a:prstGeom>
          <a:solidFill>
            <a:srgbClr val="FFFF00"/>
          </a:solidFill>
          <a:ln w="28575" cap="flat">
            <a:solidFill>
              <a:schemeClr val="accent2">
                <a:lumMod val="40000"/>
                <a:lumOff val="60000"/>
              </a:schemeClr>
            </a:solidFill>
            <a:miter lim="400000"/>
          </a:ln>
          <a:effectLst>
            <a:glow rad="101600">
              <a:schemeClr val="accent4">
                <a:satMod val="175000"/>
                <a:alpha val="40000"/>
              </a:schemeClr>
            </a:glow>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GB"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7" name="Star: 5 Points 16">
            <a:extLst>
              <a:ext uri="{FF2B5EF4-FFF2-40B4-BE49-F238E27FC236}">
                <a16:creationId xmlns:a16="http://schemas.microsoft.com/office/drawing/2014/main" id="{A3369616-F8BA-0C77-E900-4232DD4C1074}"/>
              </a:ext>
            </a:extLst>
          </p:cNvPr>
          <p:cNvSpPr/>
          <p:nvPr/>
        </p:nvSpPr>
        <p:spPr>
          <a:xfrm>
            <a:off x="14033005" y="7945198"/>
            <a:ext cx="752894" cy="716045"/>
          </a:xfrm>
          <a:prstGeom prst="star5">
            <a:avLst>
              <a:gd name="adj" fmla="val 26231"/>
              <a:gd name="hf" fmla="val 105146"/>
              <a:gd name="vf" fmla="val 110557"/>
            </a:avLst>
          </a:prstGeom>
          <a:solidFill>
            <a:srgbClr val="FFFF00"/>
          </a:solidFill>
          <a:ln w="28575" cap="flat">
            <a:solidFill>
              <a:schemeClr val="accent2">
                <a:lumMod val="40000"/>
                <a:lumOff val="60000"/>
              </a:schemeClr>
            </a:solidFill>
            <a:miter lim="400000"/>
          </a:ln>
          <a:effectLst>
            <a:glow rad="101600">
              <a:schemeClr val="accent4">
                <a:satMod val="175000"/>
                <a:alpha val="40000"/>
              </a:schemeClr>
            </a:glow>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GB"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1" name="Star: 5 Points 20">
            <a:extLst>
              <a:ext uri="{FF2B5EF4-FFF2-40B4-BE49-F238E27FC236}">
                <a16:creationId xmlns:a16="http://schemas.microsoft.com/office/drawing/2014/main" id="{E45E9CA7-A623-F6FE-CC90-A64FFF83803F}"/>
              </a:ext>
            </a:extLst>
          </p:cNvPr>
          <p:cNvSpPr/>
          <p:nvPr/>
        </p:nvSpPr>
        <p:spPr>
          <a:xfrm>
            <a:off x="14033005" y="9746054"/>
            <a:ext cx="752894" cy="716045"/>
          </a:xfrm>
          <a:prstGeom prst="star5">
            <a:avLst>
              <a:gd name="adj" fmla="val 26231"/>
              <a:gd name="hf" fmla="val 105146"/>
              <a:gd name="vf" fmla="val 110557"/>
            </a:avLst>
          </a:prstGeom>
          <a:solidFill>
            <a:srgbClr val="FFFF00"/>
          </a:solidFill>
          <a:ln w="28575" cap="flat">
            <a:solidFill>
              <a:schemeClr val="accent2">
                <a:lumMod val="40000"/>
                <a:lumOff val="60000"/>
              </a:schemeClr>
            </a:solidFill>
            <a:miter lim="400000"/>
          </a:ln>
          <a:effectLst>
            <a:glow rad="101600">
              <a:schemeClr val="accent4">
                <a:satMod val="175000"/>
                <a:alpha val="40000"/>
              </a:schemeClr>
            </a:glow>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GB"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3" name="Star: 5 Points 22">
            <a:extLst>
              <a:ext uri="{FF2B5EF4-FFF2-40B4-BE49-F238E27FC236}">
                <a16:creationId xmlns:a16="http://schemas.microsoft.com/office/drawing/2014/main" id="{7FC5414C-6B2D-4B29-8CD4-4F00A81FF8C9}"/>
              </a:ext>
            </a:extLst>
          </p:cNvPr>
          <p:cNvSpPr/>
          <p:nvPr/>
        </p:nvSpPr>
        <p:spPr>
          <a:xfrm>
            <a:off x="14033005" y="11342655"/>
            <a:ext cx="752894" cy="716045"/>
          </a:xfrm>
          <a:prstGeom prst="star5">
            <a:avLst>
              <a:gd name="adj" fmla="val 26231"/>
              <a:gd name="hf" fmla="val 105146"/>
              <a:gd name="vf" fmla="val 110557"/>
            </a:avLst>
          </a:prstGeom>
          <a:solidFill>
            <a:srgbClr val="FFFF00"/>
          </a:solidFill>
          <a:ln w="28575" cap="flat">
            <a:solidFill>
              <a:schemeClr val="accent2">
                <a:lumMod val="40000"/>
                <a:lumOff val="60000"/>
              </a:schemeClr>
            </a:solidFill>
            <a:miter lim="400000"/>
          </a:ln>
          <a:effectLst>
            <a:glow rad="101600">
              <a:schemeClr val="accent4">
                <a:satMod val="175000"/>
                <a:alpha val="40000"/>
              </a:schemeClr>
            </a:glow>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GB"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083715868"/>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The problem we are trying to solve"/>
          <p:cNvSpPr txBox="1">
            <a:spLocks noGrp="1"/>
          </p:cNvSpPr>
          <p:nvPr>
            <p:ph type="title"/>
          </p:nvPr>
        </p:nvSpPr>
        <p:spPr>
          <a:prstGeom prst="rect">
            <a:avLst/>
          </a:prstGeom>
        </p:spPr>
        <p:txBody>
          <a:bodyPr/>
          <a:lstStyle/>
          <a:p>
            <a:r>
              <a:t>The problem we are trying to solve</a:t>
            </a:r>
          </a:p>
        </p:txBody>
      </p:sp>
      <p:sp>
        <p:nvSpPr>
          <p:cNvPr id="180" name="Slide Subtitle"/>
          <p:cNvSpPr txBox="1">
            <a:spLocks noGrp="1"/>
          </p:cNvSpPr>
          <p:nvPr>
            <p:ph type="body" idx="21"/>
          </p:nvPr>
        </p:nvSpPr>
        <p:spPr>
          <a:prstGeom prst="rect">
            <a:avLst/>
          </a:prstGeom>
        </p:spPr>
        <p:txBody>
          <a:bodyPr/>
          <a:lstStyle/>
          <a:p>
            <a:endParaRPr/>
          </a:p>
        </p:txBody>
      </p:sp>
      <p:sp>
        <p:nvSpPr>
          <p:cNvPr id="181" name="We have become reasonably good at extracting actionable requirements from source documents such as regulations, standards and equipment manuals.…"/>
          <p:cNvSpPr txBox="1">
            <a:spLocks noGrp="1"/>
          </p:cNvSpPr>
          <p:nvPr>
            <p:ph type="body" idx="1"/>
          </p:nvPr>
        </p:nvSpPr>
        <p:spPr>
          <a:prstGeom prst="rect">
            <a:avLst/>
          </a:prstGeom>
        </p:spPr>
        <p:txBody>
          <a:bodyPr numCol="2" spcCol="1098550"/>
          <a:lstStyle/>
          <a:p>
            <a:pPr marL="0" indent="0" defTabSz="1463003">
              <a:spcBef>
                <a:spcPts val="2700"/>
              </a:spcBef>
              <a:buSzTx/>
              <a:buNone/>
              <a:defRPr sz="2880"/>
            </a:pPr>
            <a:r>
              <a:t>We have become reasonably good at extracting actionable requirements from source documents such as regulations, standards and equipment manuals.</a:t>
            </a:r>
          </a:p>
          <a:p>
            <a:pPr marL="0" indent="0" defTabSz="1463003">
              <a:spcBef>
                <a:spcPts val="2700"/>
              </a:spcBef>
              <a:buSzTx/>
              <a:buNone/>
              <a:defRPr sz="2880"/>
            </a:pPr>
            <a:r>
              <a:t>Today that process gives us a structured representation of each extracted requirement: source/provenance, action, component, method, actor, trigger, frequency, lifecycle and other attributes.</a:t>
            </a:r>
          </a:p>
          <a:p>
            <a:pPr marL="0" indent="0" defTabSz="1463003">
              <a:spcBef>
                <a:spcPts val="2700"/>
              </a:spcBef>
              <a:buSzTx/>
              <a:buNone/>
              <a:defRPr sz="2880"/>
            </a:pPr>
            <a:r>
              <a:t>The next problem is that each extracted requirement is still largely an independent record.</a:t>
            </a:r>
          </a:p>
          <a:p>
            <a:pPr marL="0" indent="0" defTabSz="1463003">
              <a:spcBef>
                <a:spcPts val="2700"/>
              </a:spcBef>
              <a:buSzTx/>
              <a:buNone/>
              <a:defRPr sz="2880"/>
            </a:pPr>
            <a:r>
              <a:t>As we add more documents, document revisions and regulatory frameworks, this creates several related problems.</a:t>
            </a:r>
          </a:p>
          <a:p>
            <a:pPr marL="0" indent="0" defTabSz="1463003">
              <a:spcBef>
                <a:spcPts val="2700"/>
              </a:spcBef>
              <a:buSzTx/>
              <a:buNone/>
              <a:defRPr sz="2880"/>
            </a:pPr>
            <a:r>
              <a:t>A requirement may appear again in a newer version of the same document. Its wording, location or some attributes may have changed, while the underlying requirement may still essentially be the same.</a:t>
            </a:r>
          </a:p>
          <a:p>
            <a:pPr marL="0" indent="0" defTabSz="1463003">
              <a:spcBef>
                <a:spcPts val="2700"/>
              </a:spcBef>
              <a:buSzTx/>
              <a:buNone/>
              <a:defRPr sz="2880"/>
            </a:pPr>
            <a:r>
              <a:t>Different sources may independently require the same real-world action. For example, several sources may ultimately require an operator to check for dead fish. We should not ask the operator to perform the same check several times simply because several requirements exist.</a:t>
            </a:r>
          </a:p>
          <a:p>
            <a:pPr marL="0" indent="0" defTabSz="1463003">
              <a:spcBef>
                <a:spcPts val="2700"/>
              </a:spcBef>
              <a:buSzTx/>
              <a:buNone/>
              <a:defRPr sz="2880"/>
            </a:pPr>
            <a:r>
              <a:t>Requirements may also only partially overlap. One requirement might say “check for dead fish”; another could contain “check for dead fish AND remove dead fish”. These are neither completely identical nor completely different.</a:t>
            </a:r>
          </a:p>
          <a:p>
            <a:pPr marL="0" indent="0" defTabSz="1463003">
              <a:spcBef>
                <a:spcPts val="2700"/>
              </a:spcBef>
              <a:buSzTx/>
              <a:buNone/>
              <a:defRPr sz="2880"/>
            </a:pPr>
            <a:r>
              <a:t>Finally, satisfying one requirement may logically satisfy another. A daily inspection requirement, for example, may inherently satisfy a monthly inspection requirement if everything else about the required inspection is compatible.</a:t>
            </a:r>
          </a:p>
          <a:p>
            <a:pPr marL="0" indent="0" defTabSz="1463003">
              <a:spcBef>
                <a:spcPts val="2700"/>
              </a:spcBef>
              <a:buSzTx/>
              <a:buNone/>
              <a:defRPr sz="2880"/>
            </a:pPr>
            <a:r>
              <a:t>The problem therefore appears to be larger than simple task deduplication or document versioning.</a:t>
            </a:r>
          </a:p>
          <a:p>
            <a:pPr marL="0" indent="0" defTabSz="1463003">
              <a:spcBef>
                <a:spcPts val="2700"/>
              </a:spcBef>
              <a:buSzTx/>
              <a:buNone/>
              <a:defRPr sz="2880"/>
            </a:pPr>
            <a:r>
              <a:t>We need a way of representing requirements that allows us to understand what they mean, how they relate to one another, when they apply, and what evidence is sufficient to satisfy them.</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A useful distinction: source requirement ≠ user task"/>
          <p:cNvSpPr txBox="1">
            <a:spLocks noGrp="1"/>
          </p:cNvSpPr>
          <p:nvPr>
            <p:ph type="title"/>
          </p:nvPr>
        </p:nvSpPr>
        <p:spPr>
          <a:prstGeom prst="rect">
            <a:avLst/>
          </a:prstGeom>
        </p:spPr>
        <p:txBody>
          <a:bodyPr>
            <a:normAutofit fontScale="90000"/>
          </a:bodyPr>
          <a:lstStyle>
            <a:lvl1pPr defTabSz="2096971">
              <a:defRPr sz="7310" spc="-146"/>
            </a:lvl1pPr>
          </a:lstStyle>
          <a:p>
            <a:r>
              <a:t>A useful distinction: source requirement ≠ user task</a:t>
            </a:r>
          </a:p>
        </p:txBody>
      </p:sp>
      <p:sp>
        <p:nvSpPr>
          <p:cNvPr id="184" name="Slide Subtitle"/>
          <p:cNvSpPr txBox="1">
            <a:spLocks noGrp="1"/>
          </p:cNvSpPr>
          <p:nvPr>
            <p:ph type="body" idx="21"/>
          </p:nvPr>
        </p:nvSpPr>
        <p:spPr>
          <a:prstGeom prst="rect">
            <a:avLst/>
          </a:prstGeom>
        </p:spPr>
        <p:txBody>
          <a:bodyPr/>
          <a:lstStyle/>
          <a:p>
            <a:endParaRPr/>
          </a:p>
        </p:txBody>
      </p:sp>
      <p:sp>
        <p:nvSpPr>
          <p:cNvPr id="185" name="One thing we should probably stop assuming is that the thing we extract from a document must also be the thing we present to the user.…"/>
          <p:cNvSpPr txBox="1">
            <a:spLocks noGrp="1"/>
          </p:cNvSpPr>
          <p:nvPr>
            <p:ph type="body" sz="half" idx="1"/>
          </p:nvPr>
        </p:nvSpPr>
        <p:spPr>
          <a:xfrm>
            <a:off x="1206499" y="4248504"/>
            <a:ext cx="8696204" cy="8256012"/>
          </a:xfrm>
          <a:prstGeom prst="rect">
            <a:avLst/>
          </a:prstGeom>
        </p:spPr>
        <p:txBody>
          <a:bodyPr/>
          <a:lstStyle/>
          <a:p>
            <a:pPr marL="0" indent="0" defTabSz="1121635">
              <a:spcBef>
                <a:spcPts val="2000"/>
              </a:spcBef>
              <a:buSzTx/>
              <a:buNone/>
              <a:defRPr sz="2208"/>
            </a:pPr>
            <a:r>
              <a:t>One thing we should probably stop assuming is that the thing we extract from a document must also be the thing we present to the user.</a:t>
            </a:r>
          </a:p>
          <a:p>
            <a:pPr marL="0" indent="0" defTabSz="1121635">
              <a:spcBef>
                <a:spcPts val="2000"/>
              </a:spcBef>
              <a:buSzTx/>
              <a:buNone/>
              <a:defRPr sz="2208"/>
            </a:pPr>
            <a:r>
              <a:t>Consider:</a:t>
            </a:r>
          </a:p>
          <a:p>
            <a:pPr marL="0" indent="0" defTabSz="1121635">
              <a:spcBef>
                <a:spcPts val="2000"/>
              </a:spcBef>
              <a:buSzTx/>
              <a:buNone/>
              <a:defRPr sz="2208"/>
            </a:pPr>
            <a:r>
              <a:rPr b="1"/>
              <a:t>Source A</a:t>
            </a:r>
            <a:br/>
            <a:r>
              <a:rPr i="1"/>
              <a:t>Check for dead fish daily.</a:t>
            </a:r>
          </a:p>
          <a:p>
            <a:pPr marL="0" indent="0" defTabSz="1121635">
              <a:spcBef>
                <a:spcPts val="2000"/>
              </a:spcBef>
              <a:buSzTx/>
              <a:buNone/>
              <a:defRPr sz="2208"/>
            </a:pPr>
            <a:r>
              <a:rPr b="1"/>
              <a:t>Source B</a:t>
            </a:r>
            <a:br/>
            <a:r>
              <a:rPr i="1"/>
              <a:t>Check for dead fish and remove dead fish when present.</a:t>
            </a:r>
          </a:p>
          <a:p>
            <a:pPr marL="0" indent="0" defTabSz="1121635">
              <a:spcBef>
                <a:spcPts val="2000"/>
              </a:spcBef>
              <a:buSzTx/>
              <a:buNone/>
              <a:defRPr sz="2208"/>
            </a:pPr>
            <a:r>
              <a:rPr b="1"/>
              <a:t>Source C</a:t>
            </a:r>
            <a:br/>
            <a:r>
              <a:rPr i="1"/>
              <a:t>Check for dead fish monthly.</a:t>
            </a:r>
          </a:p>
          <a:p>
            <a:pPr marL="0" indent="0" defTabSz="1121635">
              <a:spcBef>
                <a:spcPts val="2000"/>
              </a:spcBef>
              <a:buSzTx/>
              <a:buNone/>
              <a:defRPr sz="2208"/>
            </a:pPr>
            <a:r>
              <a:t>These are three legitimate requirements and should remain traceable as such.</a:t>
            </a:r>
          </a:p>
          <a:p>
            <a:pPr marL="0" indent="0" defTabSz="1121635">
              <a:spcBef>
                <a:spcPts val="2000"/>
              </a:spcBef>
              <a:buSzTx/>
              <a:buNone/>
              <a:defRPr sz="2208"/>
            </a:pPr>
            <a:r>
              <a:t>But they contain perhaps only two fundamental operational actions:</a:t>
            </a:r>
          </a:p>
          <a:p>
            <a:pPr marL="0" indent="0" defTabSz="1121635">
              <a:spcBef>
                <a:spcPts val="2000"/>
              </a:spcBef>
              <a:buSzTx/>
              <a:buNone/>
              <a:defRPr sz="2208"/>
            </a:pPr>
            <a:r>
              <a:t>- </a:t>
            </a:r>
            <a:r>
              <a:rPr b="1"/>
              <a:t>CHECK</a:t>
            </a:r>
            <a:r>
              <a:t> dead fish</a:t>
            </a:r>
          </a:p>
          <a:p>
            <a:pPr marL="0" indent="0" defTabSz="1121635">
              <a:spcBef>
                <a:spcPts val="2000"/>
              </a:spcBef>
              <a:buSzTx/>
              <a:buNone/>
              <a:defRPr sz="2208"/>
            </a:pPr>
            <a:r>
              <a:t>- </a:t>
            </a:r>
            <a:r>
              <a:rPr b="1"/>
              <a:t>REMOVE</a:t>
            </a:r>
            <a:r>
              <a:t> dead fish</a:t>
            </a:r>
          </a:p>
          <a:p>
            <a:pPr marL="0" indent="0" defTabSz="1121635">
              <a:spcBef>
                <a:spcPts val="2000"/>
              </a:spcBef>
              <a:buSzTx/>
              <a:buNone/>
              <a:defRPr sz="2208"/>
            </a:pPr>
            <a:r>
              <a:t>The user may therefore need to perform only two actions, while the system understands that those actions contribute evidence towards three separate requirements.</a:t>
            </a:r>
          </a:p>
        </p:txBody>
      </p:sp>
      <p:sp>
        <p:nvSpPr>
          <p:cNvPr id="186" name="REQUIREMENT FROM SOURCE…"/>
          <p:cNvSpPr/>
          <p:nvPr/>
        </p:nvSpPr>
        <p:spPr>
          <a:xfrm>
            <a:off x="12346461" y="3424709"/>
            <a:ext cx="10848268" cy="1433164"/>
          </a:xfrm>
          <a:prstGeom prst="roundRect">
            <a:avLst>
              <a:gd name="adj" fmla="val 13292"/>
            </a:avLst>
          </a:prstGeom>
          <a:solidFill>
            <a:srgbClr val="01102C"/>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p>
            <a:pPr algn="ctr" defTabSz="825500">
              <a:lnSpc>
                <a:spcPct val="100000"/>
              </a:lnSpc>
              <a:spcBef>
                <a:spcPts val="0"/>
              </a:spcBef>
              <a:defRPr sz="3200" b="1">
                <a:solidFill>
                  <a:srgbClr val="FFFFFF"/>
                </a:solidFill>
                <a:latin typeface="Arial"/>
                <a:ea typeface="Arial"/>
                <a:cs typeface="Arial"/>
                <a:sym typeface="Arial"/>
              </a:defRPr>
            </a:pPr>
            <a:r>
              <a:t>REQUIREMENT FROM SOURCE</a:t>
            </a:r>
          </a:p>
          <a:p>
            <a:pPr algn="ctr" defTabSz="825500">
              <a:lnSpc>
                <a:spcPct val="100000"/>
              </a:lnSpc>
              <a:spcBef>
                <a:spcPts val="0"/>
              </a:spcBef>
              <a:defRPr sz="2400" i="1">
                <a:solidFill>
                  <a:srgbClr val="FFFFFF"/>
                </a:solidFill>
                <a:latin typeface="Arial"/>
                <a:ea typeface="Arial"/>
                <a:cs typeface="Arial"/>
                <a:sym typeface="Arial"/>
              </a:defRPr>
            </a:pPr>
            <a:r>
              <a:t>What a particular source requires</a:t>
            </a:r>
          </a:p>
        </p:txBody>
      </p:sp>
      <p:sp>
        <p:nvSpPr>
          <p:cNvPr id="187" name="SEMANTIC / LOGICAL REPRESENTATION…"/>
          <p:cNvSpPr/>
          <p:nvPr/>
        </p:nvSpPr>
        <p:spPr>
          <a:xfrm>
            <a:off x="12346461" y="5333459"/>
            <a:ext cx="10848268" cy="1433164"/>
          </a:xfrm>
          <a:prstGeom prst="roundRect">
            <a:avLst>
              <a:gd name="adj" fmla="val 13292"/>
            </a:avLst>
          </a:prstGeom>
          <a:solidFill>
            <a:srgbClr val="01102C"/>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p>
            <a:pPr algn="ctr" defTabSz="825500">
              <a:lnSpc>
                <a:spcPct val="100000"/>
              </a:lnSpc>
              <a:spcBef>
                <a:spcPts val="0"/>
              </a:spcBef>
              <a:defRPr sz="3200" b="1">
                <a:solidFill>
                  <a:srgbClr val="FFFFFF"/>
                </a:solidFill>
                <a:latin typeface="Arial"/>
                <a:ea typeface="Arial"/>
                <a:cs typeface="Arial"/>
                <a:sym typeface="Arial"/>
              </a:defRPr>
            </a:pPr>
            <a:r>
              <a:t>SEMANTIC / LOGICAL REPRESENTATION</a:t>
            </a:r>
          </a:p>
          <a:p>
            <a:pPr algn="ctr" defTabSz="825500">
              <a:lnSpc>
                <a:spcPct val="100000"/>
              </a:lnSpc>
              <a:spcBef>
                <a:spcPts val="0"/>
              </a:spcBef>
              <a:defRPr sz="2400" i="1">
                <a:solidFill>
                  <a:srgbClr val="FFFFFF"/>
                </a:solidFill>
                <a:latin typeface="Arial"/>
                <a:ea typeface="Arial"/>
                <a:cs typeface="Arial"/>
                <a:sym typeface="Arial"/>
              </a:defRPr>
            </a:pPr>
            <a:r>
              <a:t>What that requirement actually means</a:t>
            </a:r>
          </a:p>
        </p:txBody>
      </p:sp>
      <p:sp>
        <p:nvSpPr>
          <p:cNvPr id="188" name="OPERATIONAL ACTION…"/>
          <p:cNvSpPr/>
          <p:nvPr/>
        </p:nvSpPr>
        <p:spPr>
          <a:xfrm>
            <a:off x="12346461" y="7242209"/>
            <a:ext cx="10848268" cy="1433164"/>
          </a:xfrm>
          <a:prstGeom prst="roundRect">
            <a:avLst>
              <a:gd name="adj" fmla="val 13292"/>
            </a:avLst>
          </a:prstGeom>
          <a:solidFill>
            <a:srgbClr val="01102C"/>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p>
            <a:pPr algn="ctr" defTabSz="825500">
              <a:lnSpc>
                <a:spcPct val="100000"/>
              </a:lnSpc>
              <a:spcBef>
                <a:spcPts val="0"/>
              </a:spcBef>
              <a:defRPr sz="3200" b="1">
                <a:solidFill>
                  <a:srgbClr val="FFFFFF"/>
                </a:solidFill>
                <a:latin typeface="Arial"/>
                <a:ea typeface="Arial"/>
                <a:cs typeface="Arial"/>
                <a:sym typeface="Arial"/>
              </a:defRPr>
            </a:pPr>
            <a:r>
              <a:t>OPERATIONAL ACTION</a:t>
            </a:r>
          </a:p>
          <a:p>
            <a:pPr algn="ctr" defTabSz="825500">
              <a:lnSpc>
                <a:spcPct val="100000"/>
              </a:lnSpc>
              <a:spcBef>
                <a:spcPts val="0"/>
              </a:spcBef>
              <a:defRPr sz="2400" i="1">
                <a:solidFill>
                  <a:srgbClr val="FFFFFF"/>
                </a:solidFill>
                <a:latin typeface="Arial"/>
                <a:ea typeface="Arial"/>
                <a:cs typeface="Arial"/>
                <a:sym typeface="Arial"/>
              </a:defRPr>
            </a:pPr>
            <a:r>
              <a:t>What somebody actually needs to do</a:t>
            </a:r>
          </a:p>
        </p:txBody>
      </p:sp>
      <p:sp>
        <p:nvSpPr>
          <p:cNvPr id="189" name="EVIDENCE…"/>
          <p:cNvSpPr/>
          <p:nvPr/>
        </p:nvSpPr>
        <p:spPr>
          <a:xfrm>
            <a:off x="12346461" y="9150959"/>
            <a:ext cx="10848268" cy="1433164"/>
          </a:xfrm>
          <a:prstGeom prst="roundRect">
            <a:avLst>
              <a:gd name="adj" fmla="val 13292"/>
            </a:avLst>
          </a:prstGeom>
          <a:solidFill>
            <a:srgbClr val="01102C"/>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p>
            <a:pPr algn="ctr" defTabSz="825500">
              <a:lnSpc>
                <a:spcPct val="100000"/>
              </a:lnSpc>
              <a:spcBef>
                <a:spcPts val="0"/>
              </a:spcBef>
              <a:defRPr sz="3200" b="1">
                <a:solidFill>
                  <a:srgbClr val="FFFFFF"/>
                </a:solidFill>
                <a:latin typeface="Arial"/>
                <a:ea typeface="Arial"/>
                <a:cs typeface="Arial"/>
                <a:sym typeface="Arial"/>
              </a:defRPr>
            </a:pPr>
            <a:r>
              <a:t>EVIDENCE</a:t>
            </a:r>
          </a:p>
          <a:p>
            <a:pPr algn="ctr" defTabSz="825500">
              <a:lnSpc>
                <a:spcPct val="100000"/>
              </a:lnSpc>
              <a:spcBef>
                <a:spcPts val="0"/>
              </a:spcBef>
              <a:defRPr sz="2400" i="1">
                <a:solidFill>
                  <a:srgbClr val="FFFFFF"/>
                </a:solidFill>
                <a:latin typeface="Arial"/>
                <a:ea typeface="Arial"/>
                <a:cs typeface="Arial"/>
                <a:sym typeface="Arial"/>
              </a:defRPr>
            </a:pPr>
            <a:r>
              <a:t>What happened / What exists in reality</a:t>
            </a:r>
          </a:p>
        </p:txBody>
      </p:sp>
      <p:sp>
        <p:nvSpPr>
          <p:cNvPr id="190" name="REQUIREMENT SATISFACTION…"/>
          <p:cNvSpPr/>
          <p:nvPr/>
        </p:nvSpPr>
        <p:spPr>
          <a:xfrm>
            <a:off x="12346461" y="11059709"/>
            <a:ext cx="10848268" cy="1433164"/>
          </a:xfrm>
          <a:prstGeom prst="roundRect">
            <a:avLst>
              <a:gd name="adj" fmla="val 13292"/>
            </a:avLst>
          </a:prstGeom>
          <a:solidFill>
            <a:srgbClr val="01102C"/>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p>
            <a:pPr algn="ctr" defTabSz="825500">
              <a:lnSpc>
                <a:spcPct val="100000"/>
              </a:lnSpc>
              <a:spcBef>
                <a:spcPts val="0"/>
              </a:spcBef>
              <a:defRPr sz="3200" b="1">
                <a:solidFill>
                  <a:srgbClr val="FFFFFF"/>
                </a:solidFill>
                <a:latin typeface="Arial"/>
                <a:ea typeface="Arial"/>
                <a:cs typeface="Arial"/>
                <a:sym typeface="Arial"/>
              </a:defRPr>
            </a:pPr>
            <a:r>
              <a:t>REQUIREMENT SATISFACTION</a:t>
            </a:r>
          </a:p>
          <a:p>
            <a:pPr algn="ctr" defTabSz="825500">
              <a:lnSpc>
                <a:spcPct val="100000"/>
              </a:lnSpc>
              <a:spcBef>
                <a:spcPts val="0"/>
              </a:spcBef>
              <a:defRPr sz="2400" i="1">
                <a:solidFill>
                  <a:srgbClr val="FFFFFF"/>
                </a:solidFill>
                <a:latin typeface="Arial"/>
                <a:ea typeface="Arial"/>
                <a:cs typeface="Arial"/>
                <a:sym typeface="Arial"/>
              </a:defRPr>
            </a:pPr>
            <a:r>
              <a:t>Which requirements the evidence satisfies</a:t>
            </a:r>
          </a:p>
        </p:txBody>
      </p:sp>
      <p:sp>
        <p:nvSpPr>
          <p:cNvPr id="191" name="The exact entities and terminology here are not decided. Determining them is part of the work."/>
          <p:cNvSpPr txBox="1"/>
          <p:nvPr/>
        </p:nvSpPr>
        <p:spPr>
          <a:xfrm>
            <a:off x="12386815" y="12593906"/>
            <a:ext cx="8118649" cy="3112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defTabSz="457200">
              <a:lnSpc>
                <a:spcPct val="100000"/>
              </a:lnSpc>
              <a:spcBef>
                <a:spcPts val="0"/>
              </a:spcBef>
              <a:defRPr sz="1500" i="1">
                <a:latin typeface="Arial"/>
                <a:ea typeface="Arial"/>
                <a:cs typeface="Arial"/>
                <a:sym typeface="Arial"/>
              </a:defRPr>
            </a:pPr>
            <a:r>
              <a:t>The exact entities and terminology here are </a:t>
            </a:r>
            <a:r>
              <a:rPr b="1"/>
              <a:t>not decided</a:t>
            </a:r>
            <a:r>
              <a:t>. Determining them is part of the work.</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We may need to decompose requirements"/>
          <p:cNvSpPr txBox="1">
            <a:spLocks noGrp="1"/>
          </p:cNvSpPr>
          <p:nvPr>
            <p:ph type="title"/>
          </p:nvPr>
        </p:nvSpPr>
        <p:spPr>
          <a:prstGeom prst="rect">
            <a:avLst/>
          </a:prstGeom>
        </p:spPr>
        <p:txBody>
          <a:bodyPr/>
          <a:lstStyle/>
          <a:p>
            <a:r>
              <a:t>We may need to decompose requirements</a:t>
            </a:r>
          </a:p>
        </p:txBody>
      </p:sp>
      <p:sp>
        <p:nvSpPr>
          <p:cNvPr id="194" name="Slide Subtitle"/>
          <p:cNvSpPr txBox="1">
            <a:spLocks noGrp="1"/>
          </p:cNvSpPr>
          <p:nvPr>
            <p:ph type="body" idx="21"/>
          </p:nvPr>
        </p:nvSpPr>
        <p:spPr>
          <a:prstGeom prst="rect">
            <a:avLst/>
          </a:prstGeom>
        </p:spPr>
        <p:txBody>
          <a:bodyPr/>
          <a:lstStyle/>
          <a:p>
            <a:endParaRPr/>
          </a:p>
        </p:txBody>
      </p:sp>
      <p:sp>
        <p:nvSpPr>
          <p:cNvPr id="195" name="Comparing entire task records may be the wrong level of abstraction. A requirement might actually contain several things.…"/>
          <p:cNvSpPr txBox="1">
            <a:spLocks noGrp="1"/>
          </p:cNvSpPr>
          <p:nvPr>
            <p:ph type="body" sz="half" idx="1"/>
          </p:nvPr>
        </p:nvSpPr>
        <p:spPr>
          <a:xfrm>
            <a:off x="1190499" y="4234009"/>
            <a:ext cx="8396212" cy="8581664"/>
          </a:xfrm>
          <a:prstGeom prst="rect">
            <a:avLst/>
          </a:prstGeom>
        </p:spPr>
        <p:txBody>
          <a:bodyPr/>
          <a:lstStyle/>
          <a:p>
            <a:pPr marL="0" indent="0" defTabSz="1389853">
              <a:spcBef>
                <a:spcPts val="2500"/>
              </a:spcBef>
              <a:buSzTx/>
              <a:buNone/>
              <a:defRPr sz="2736"/>
            </a:pPr>
            <a:r>
              <a:t>Comparing entire task records may be the wrong level of abstraction. A requirement might actually contain several things.</a:t>
            </a:r>
          </a:p>
          <a:p>
            <a:pPr marL="0" indent="0" defTabSz="1389853">
              <a:spcBef>
                <a:spcPts val="2500"/>
              </a:spcBef>
              <a:buSzTx/>
              <a:buNone/>
              <a:defRPr sz="2736"/>
            </a:pPr>
            <a:r>
              <a:t>At the source-text level requirements can be different.</a:t>
            </a:r>
          </a:p>
          <a:p>
            <a:pPr marL="0" indent="0" defTabSz="1389853">
              <a:spcBef>
                <a:spcPts val="2500"/>
              </a:spcBef>
              <a:buSzTx/>
              <a:buNone/>
              <a:defRPr sz="2736"/>
            </a:pPr>
            <a:r>
              <a:t>At the extracted-task level they may also be different.</a:t>
            </a:r>
          </a:p>
          <a:p>
            <a:pPr marL="0" indent="0" defTabSz="1389853">
              <a:spcBef>
                <a:spcPts val="2500"/>
              </a:spcBef>
              <a:buSzTx/>
              <a:buNone/>
              <a:defRPr sz="2736"/>
            </a:pPr>
            <a:r>
              <a:t>But at a more atomic level we can see what they share.</a:t>
            </a:r>
          </a:p>
          <a:p>
            <a:pPr marL="0" indent="0" defTabSz="1389853">
              <a:spcBef>
                <a:spcPts val="2500"/>
              </a:spcBef>
              <a:buSzTx/>
              <a:buNone/>
              <a:defRPr sz="2736"/>
            </a:pPr>
            <a:r>
              <a:t>This potentially gives us something much more useful to compare.</a:t>
            </a:r>
          </a:p>
          <a:p>
            <a:pPr marL="0" indent="0" defTabSz="1389853">
              <a:spcBef>
                <a:spcPts val="2500"/>
              </a:spcBef>
              <a:buSzTx/>
              <a:buNone/>
              <a:defRPr sz="2736"/>
            </a:pPr>
            <a:r>
              <a:t>We have discussed representing requirements through a constrained vocabulary and logical structure — for example, breaking a requirement into scope, condition and demand, rather than relying solely on free text.</a:t>
            </a:r>
          </a:p>
        </p:txBody>
      </p:sp>
      <p:sp>
        <p:nvSpPr>
          <p:cNvPr id="196" name="Inspect system and remove dead fish daily."/>
          <p:cNvSpPr/>
          <p:nvPr/>
        </p:nvSpPr>
        <p:spPr>
          <a:xfrm>
            <a:off x="10595257" y="2961914"/>
            <a:ext cx="12483711" cy="934779"/>
          </a:xfrm>
          <a:prstGeom prst="roundRect">
            <a:avLst>
              <a:gd name="adj" fmla="val 20379"/>
            </a:avLst>
          </a:prstGeom>
          <a:solidFill>
            <a:srgbClr val="01102C"/>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ctr" defTabSz="825500">
              <a:lnSpc>
                <a:spcPct val="100000"/>
              </a:lnSpc>
              <a:spcBef>
                <a:spcPts val="0"/>
              </a:spcBef>
              <a:defRPr sz="3200" b="1">
                <a:solidFill>
                  <a:srgbClr val="FFFFFF"/>
                </a:solidFill>
                <a:latin typeface="Arial"/>
                <a:ea typeface="Arial"/>
                <a:cs typeface="Arial"/>
                <a:sym typeface="Arial"/>
              </a:defRPr>
            </a:lvl1pPr>
          </a:lstStyle>
          <a:p>
            <a:r>
              <a:t>Inspect system and remove dead fish daily.</a:t>
            </a:r>
          </a:p>
        </p:txBody>
      </p:sp>
      <p:sp>
        <p:nvSpPr>
          <p:cNvPr id="197" name="SCOPE…"/>
          <p:cNvSpPr/>
          <p:nvPr/>
        </p:nvSpPr>
        <p:spPr>
          <a:xfrm>
            <a:off x="10923023" y="4459342"/>
            <a:ext cx="5818606" cy="5559352"/>
          </a:xfrm>
          <a:prstGeom prst="roundRect">
            <a:avLst>
              <a:gd name="adj" fmla="val 3427"/>
            </a:avLst>
          </a:prstGeom>
          <a:ln w="63500">
            <a:solidFill>
              <a:srgbClr val="01102C"/>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p>
            <a:pPr algn="ctr" defTabSz="825500">
              <a:lnSpc>
                <a:spcPct val="100000"/>
              </a:lnSpc>
              <a:spcBef>
                <a:spcPts val="0"/>
              </a:spcBef>
              <a:defRPr sz="2400" b="1">
                <a:solidFill>
                  <a:srgbClr val="01102C"/>
                </a:solidFill>
                <a:latin typeface="Arial"/>
                <a:ea typeface="Arial"/>
                <a:cs typeface="Arial"/>
                <a:sym typeface="Arial"/>
              </a:defRPr>
            </a:pPr>
            <a:r>
              <a:t>SCOPE</a:t>
            </a:r>
          </a:p>
          <a:p>
            <a:pPr algn="ctr" defTabSz="825500">
              <a:lnSpc>
                <a:spcPct val="100000"/>
              </a:lnSpc>
              <a:spcBef>
                <a:spcPts val="0"/>
              </a:spcBef>
              <a:defRPr sz="2400" i="1">
                <a:solidFill>
                  <a:srgbClr val="01102C"/>
                </a:solidFill>
                <a:latin typeface="Arial"/>
                <a:ea typeface="Arial"/>
                <a:cs typeface="Arial"/>
                <a:sym typeface="Arial"/>
              </a:defRPr>
            </a:pPr>
            <a:r>
              <a:t>System X</a:t>
            </a:r>
          </a:p>
          <a:p>
            <a:pPr algn="ctr" defTabSz="825500">
              <a:lnSpc>
                <a:spcPct val="100000"/>
              </a:lnSpc>
              <a:spcBef>
                <a:spcPts val="0"/>
              </a:spcBef>
              <a:defRPr sz="2400" b="1">
                <a:solidFill>
                  <a:srgbClr val="01102C"/>
                </a:solidFill>
                <a:latin typeface="Arial"/>
                <a:ea typeface="Arial"/>
                <a:cs typeface="Arial"/>
                <a:sym typeface="Arial"/>
              </a:defRPr>
            </a:pPr>
            <a:endParaRPr/>
          </a:p>
          <a:p>
            <a:pPr algn="ctr" defTabSz="825500">
              <a:lnSpc>
                <a:spcPct val="100000"/>
              </a:lnSpc>
              <a:spcBef>
                <a:spcPts val="0"/>
              </a:spcBef>
              <a:defRPr sz="2400" b="1">
                <a:solidFill>
                  <a:srgbClr val="01102C"/>
                </a:solidFill>
                <a:latin typeface="Arial"/>
                <a:ea typeface="Arial"/>
                <a:cs typeface="Arial"/>
                <a:sym typeface="Arial"/>
              </a:defRPr>
            </a:pPr>
            <a:r>
              <a:t>ACTION 1</a:t>
            </a:r>
          </a:p>
          <a:p>
            <a:pPr algn="ctr" defTabSz="825500">
              <a:lnSpc>
                <a:spcPct val="100000"/>
              </a:lnSpc>
              <a:spcBef>
                <a:spcPts val="0"/>
              </a:spcBef>
              <a:defRPr sz="2400" i="1">
                <a:solidFill>
                  <a:srgbClr val="01102C"/>
                </a:solidFill>
                <a:latin typeface="Arial"/>
                <a:ea typeface="Arial"/>
                <a:cs typeface="Arial"/>
                <a:sym typeface="Arial"/>
              </a:defRPr>
            </a:pPr>
            <a:r>
              <a:t>Check for dead fish</a:t>
            </a:r>
          </a:p>
          <a:p>
            <a:pPr algn="ctr" defTabSz="825500">
              <a:lnSpc>
                <a:spcPct val="100000"/>
              </a:lnSpc>
              <a:spcBef>
                <a:spcPts val="0"/>
              </a:spcBef>
              <a:defRPr sz="2400" b="1">
                <a:solidFill>
                  <a:srgbClr val="01102C"/>
                </a:solidFill>
                <a:latin typeface="Arial"/>
                <a:ea typeface="Arial"/>
                <a:cs typeface="Arial"/>
                <a:sym typeface="Arial"/>
              </a:defRPr>
            </a:pPr>
            <a:endParaRPr/>
          </a:p>
          <a:p>
            <a:pPr algn="ctr" defTabSz="825500">
              <a:lnSpc>
                <a:spcPct val="100000"/>
              </a:lnSpc>
              <a:spcBef>
                <a:spcPts val="0"/>
              </a:spcBef>
              <a:defRPr sz="2400" b="1">
                <a:solidFill>
                  <a:srgbClr val="01102C"/>
                </a:solidFill>
                <a:latin typeface="Arial"/>
                <a:ea typeface="Arial"/>
                <a:cs typeface="Arial"/>
                <a:sym typeface="Arial"/>
              </a:defRPr>
            </a:pPr>
            <a:r>
              <a:t>ACTION 2</a:t>
            </a:r>
          </a:p>
          <a:p>
            <a:pPr algn="ctr" defTabSz="825500">
              <a:lnSpc>
                <a:spcPct val="100000"/>
              </a:lnSpc>
              <a:spcBef>
                <a:spcPts val="0"/>
              </a:spcBef>
              <a:defRPr sz="2400" i="1">
                <a:solidFill>
                  <a:srgbClr val="01102C"/>
                </a:solidFill>
                <a:latin typeface="Arial"/>
                <a:ea typeface="Arial"/>
                <a:cs typeface="Arial"/>
                <a:sym typeface="Arial"/>
              </a:defRPr>
            </a:pPr>
            <a:r>
              <a:t>Remove dead fish</a:t>
            </a:r>
          </a:p>
          <a:p>
            <a:pPr algn="ctr" defTabSz="825500">
              <a:lnSpc>
                <a:spcPct val="100000"/>
              </a:lnSpc>
              <a:spcBef>
                <a:spcPts val="0"/>
              </a:spcBef>
              <a:defRPr sz="2400" b="1">
                <a:solidFill>
                  <a:srgbClr val="01102C"/>
                </a:solidFill>
                <a:latin typeface="Arial"/>
                <a:ea typeface="Arial"/>
                <a:cs typeface="Arial"/>
                <a:sym typeface="Arial"/>
              </a:defRPr>
            </a:pPr>
            <a:endParaRPr/>
          </a:p>
          <a:p>
            <a:pPr algn="ctr" defTabSz="825500">
              <a:lnSpc>
                <a:spcPct val="100000"/>
              </a:lnSpc>
              <a:spcBef>
                <a:spcPts val="0"/>
              </a:spcBef>
              <a:defRPr sz="2400" b="1">
                <a:solidFill>
                  <a:srgbClr val="01102C"/>
                </a:solidFill>
                <a:latin typeface="Arial"/>
                <a:ea typeface="Arial"/>
                <a:cs typeface="Arial"/>
                <a:sym typeface="Arial"/>
              </a:defRPr>
            </a:pPr>
            <a:r>
              <a:t>CONDITION</a:t>
            </a:r>
          </a:p>
          <a:p>
            <a:pPr algn="ctr" defTabSz="825500">
              <a:lnSpc>
                <a:spcPct val="100000"/>
              </a:lnSpc>
              <a:spcBef>
                <a:spcPts val="0"/>
              </a:spcBef>
              <a:defRPr sz="2400" i="1">
                <a:solidFill>
                  <a:srgbClr val="01102C"/>
                </a:solidFill>
                <a:latin typeface="Arial"/>
                <a:ea typeface="Arial"/>
                <a:cs typeface="Arial"/>
                <a:sym typeface="Arial"/>
              </a:defRPr>
            </a:pPr>
            <a:r>
              <a:t>Dead fish are present</a:t>
            </a:r>
          </a:p>
          <a:p>
            <a:pPr algn="ctr" defTabSz="825500">
              <a:lnSpc>
                <a:spcPct val="100000"/>
              </a:lnSpc>
              <a:spcBef>
                <a:spcPts val="0"/>
              </a:spcBef>
              <a:defRPr sz="2400" b="1">
                <a:solidFill>
                  <a:srgbClr val="01102C"/>
                </a:solidFill>
                <a:latin typeface="Arial"/>
                <a:ea typeface="Arial"/>
                <a:cs typeface="Arial"/>
                <a:sym typeface="Arial"/>
              </a:defRPr>
            </a:pPr>
            <a:endParaRPr/>
          </a:p>
          <a:p>
            <a:pPr algn="ctr" defTabSz="825500">
              <a:lnSpc>
                <a:spcPct val="100000"/>
              </a:lnSpc>
              <a:spcBef>
                <a:spcPts val="0"/>
              </a:spcBef>
              <a:defRPr sz="2400" b="1">
                <a:solidFill>
                  <a:srgbClr val="01102C"/>
                </a:solidFill>
                <a:latin typeface="Arial"/>
                <a:ea typeface="Arial"/>
                <a:cs typeface="Arial"/>
                <a:sym typeface="Arial"/>
              </a:defRPr>
            </a:pPr>
            <a:r>
              <a:t>INTERVAL</a:t>
            </a:r>
          </a:p>
          <a:p>
            <a:pPr algn="ctr" defTabSz="825500">
              <a:lnSpc>
                <a:spcPct val="100000"/>
              </a:lnSpc>
              <a:spcBef>
                <a:spcPts val="0"/>
              </a:spcBef>
              <a:defRPr sz="2400" i="1">
                <a:solidFill>
                  <a:srgbClr val="01102C"/>
                </a:solidFill>
                <a:latin typeface="Arial"/>
                <a:ea typeface="Arial"/>
                <a:cs typeface="Arial"/>
                <a:sym typeface="Arial"/>
              </a:defRPr>
            </a:pPr>
            <a:r>
              <a:t>≤ 1 day</a:t>
            </a:r>
          </a:p>
        </p:txBody>
      </p:sp>
      <p:sp>
        <p:nvSpPr>
          <p:cNvPr id="198" name="SCOPE…"/>
          <p:cNvSpPr/>
          <p:nvPr/>
        </p:nvSpPr>
        <p:spPr>
          <a:xfrm>
            <a:off x="17237395" y="4459342"/>
            <a:ext cx="5818607" cy="3246023"/>
          </a:xfrm>
          <a:prstGeom prst="roundRect">
            <a:avLst>
              <a:gd name="adj" fmla="val 5869"/>
            </a:avLst>
          </a:prstGeom>
          <a:ln w="63500">
            <a:solidFill>
              <a:srgbClr val="01102C"/>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p>
            <a:pPr algn="ctr" defTabSz="825500">
              <a:lnSpc>
                <a:spcPct val="100000"/>
              </a:lnSpc>
              <a:spcBef>
                <a:spcPts val="0"/>
              </a:spcBef>
              <a:defRPr sz="2400" b="1">
                <a:solidFill>
                  <a:srgbClr val="01102C"/>
                </a:solidFill>
                <a:latin typeface="Arial"/>
                <a:ea typeface="Arial"/>
                <a:cs typeface="Arial"/>
                <a:sym typeface="Arial"/>
              </a:defRPr>
            </a:pPr>
            <a:r>
              <a:t>SCOPE</a:t>
            </a:r>
          </a:p>
          <a:p>
            <a:pPr algn="ctr" defTabSz="825500">
              <a:lnSpc>
                <a:spcPct val="100000"/>
              </a:lnSpc>
              <a:spcBef>
                <a:spcPts val="0"/>
              </a:spcBef>
              <a:defRPr sz="2400" i="1">
                <a:solidFill>
                  <a:srgbClr val="01102C"/>
                </a:solidFill>
                <a:latin typeface="Arial"/>
                <a:ea typeface="Arial"/>
                <a:cs typeface="Arial"/>
                <a:sym typeface="Arial"/>
              </a:defRPr>
            </a:pPr>
            <a:r>
              <a:t>System X</a:t>
            </a:r>
          </a:p>
          <a:p>
            <a:pPr algn="ctr" defTabSz="825500">
              <a:lnSpc>
                <a:spcPct val="100000"/>
              </a:lnSpc>
              <a:spcBef>
                <a:spcPts val="0"/>
              </a:spcBef>
              <a:defRPr sz="2400" b="1">
                <a:solidFill>
                  <a:srgbClr val="01102C"/>
                </a:solidFill>
                <a:latin typeface="Arial"/>
                <a:ea typeface="Arial"/>
                <a:cs typeface="Arial"/>
                <a:sym typeface="Arial"/>
              </a:defRPr>
            </a:pPr>
            <a:endParaRPr/>
          </a:p>
          <a:p>
            <a:pPr algn="ctr" defTabSz="825500">
              <a:lnSpc>
                <a:spcPct val="100000"/>
              </a:lnSpc>
              <a:spcBef>
                <a:spcPts val="0"/>
              </a:spcBef>
              <a:defRPr sz="2400" b="1">
                <a:solidFill>
                  <a:srgbClr val="01102C"/>
                </a:solidFill>
                <a:latin typeface="Arial"/>
                <a:ea typeface="Arial"/>
                <a:cs typeface="Arial"/>
                <a:sym typeface="Arial"/>
              </a:defRPr>
            </a:pPr>
            <a:r>
              <a:t>ACTION</a:t>
            </a:r>
          </a:p>
          <a:p>
            <a:pPr algn="ctr" defTabSz="825500">
              <a:lnSpc>
                <a:spcPct val="100000"/>
              </a:lnSpc>
              <a:spcBef>
                <a:spcPts val="0"/>
              </a:spcBef>
              <a:defRPr sz="2400" i="1">
                <a:solidFill>
                  <a:srgbClr val="01102C"/>
                </a:solidFill>
                <a:latin typeface="Arial"/>
                <a:ea typeface="Arial"/>
                <a:cs typeface="Arial"/>
                <a:sym typeface="Arial"/>
              </a:defRPr>
            </a:pPr>
            <a:r>
              <a:t>Check for dead fish</a:t>
            </a:r>
          </a:p>
          <a:p>
            <a:pPr algn="ctr" defTabSz="825500">
              <a:lnSpc>
                <a:spcPct val="100000"/>
              </a:lnSpc>
              <a:spcBef>
                <a:spcPts val="0"/>
              </a:spcBef>
              <a:defRPr sz="2400" b="1">
                <a:solidFill>
                  <a:srgbClr val="01102C"/>
                </a:solidFill>
                <a:latin typeface="Arial"/>
                <a:ea typeface="Arial"/>
                <a:cs typeface="Arial"/>
                <a:sym typeface="Arial"/>
              </a:defRPr>
            </a:pPr>
            <a:endParaRPr/>
          </a:p>
          <a:p>
            <a:pPr algn="ctr" defTabSz="825500">
              <a:lnSpc>
                <a:spcPct val="100000"/>
              </a:lnSpc>
              <a:spcBef>
                <a:spcPts val="0"/>
              </a:spcBef>
              <a:defRPr sz="2400" b="1">
                <a:solidFill>
                  <a:srgbClr val="01102C"/>
                </a:solidFill>
                <a:latin typeface="Arial"/>
                <a:ea typeface="Arial"/>
                <a:cs typeface="Arial"/>
                <a:sym typeface="Arial"/>
              </a:defRPr>
            </a:pPr>
            <a:r>
              <a:t>INTERVAL</a:t>
            </a:r>
          </a:p>
          <a:p>
            <a:pPr algn="ctr" defTabSz="825500">
              <a:lnSpc>
                <a:spcPct val="100000"/>
              </a:lnSpc>
              <a:spcBef>
                <a:spcPts val="0"/>
              </a:spcBef>
              <a:defRPr sz="2400" i="1">
                <a:solidFill>
                  <a:srgbClr val="01102C"/>
                </a:solidFill>
                <a:latin typeface="Arial"/>
                <a:ea typeface="Arial"/>
                <a:cs typeface="Arial"/>
                <a:sym typeface="Arial"/>
              </a:defRPr>
            </a:pPr>
            <a:r>
              <a:t>≤ 30 days</a:t>
            </a:r>
          </a:p>
        </p:txBody>
      </p:sp>
      <p:sp>
        <p:nvSpPr>
          <p:cNvPr id="199" name="CHECK"/>
          <p:cNvSpPr/>
          <p:nvPr/>
        </p:nvSpPr>
        <p:spPr>
          <a:xfrm>
            <a:off x="10595257" y="10645621"/>
            <a:ext cx="12483711" cy="934779"/>
          </a:xfrm>
          <a:prstGeom prst="roundRect">
            <a:avLst>
              <a:gd name="adj" fmla="val 20379"/>
            </a:avLst>
          </a:prstGeom>
          <a:solidFill>
            <a:schemeClr val="accent1">
              <a:hueOff val="114395"/>
              <a:lumOff val="-24975"/>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ctr" defTabSz="825500">
              <a:lnSpc>
                <a:spcPct val="100000"/>
              </a:lnSpc>
              <a:spcBef>
                <a:spcPts val="0"/>
              </a:spcBef>
              <a:defRPr sz="3200" b="1">
                <a:solidFill>
                  <a:srgbClr val="FFFFFF"/>
                </a:solidFill>
                <a:latin typeface="Arial"/>
                <a:ea typeface="Arial"/>
                <a:cs typeface="Arial"/>
                <a:sym typeface="Arial"/>
              </a:defRPr>
            </a:lvl1pPr>
          </a:lstStyle>
          <a:p>
            <a:r>
              <a:t>CHECK</a:t>
            </a:r>
          </a:p>
        </p:txBody>
      </p:sp>
      <p:sp>
        <p:nvSpPr>
          <p:cNvPr id="200" name="DEAD FISH"/>
          <p:cNvSpPr/>
          <p:nvPr/>
        </p:nvSpPr>
        <p:spPr>
          <a:xfrm>
            <a:off x="10595257" y="12010560"/>
            <a:ext cx="12483711" cy="934780"/>
          </a:xfrm>
          <a:prstGeom prst="roundRect">
            <a:avLst>
              <a:gd name="adj" fmla="val 20379"/>
            </a:avLst>
          </a:prstGeom>
          <a:solidFill>
            <a:schemeClr val="accent1">
              <a:hueOff val="114395"/>
              <a:lumOff val="-24975"/>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lgn="ctr" defTabSz="825500">
              <a:lnSpc>
                <a:spcPct val="100000"/>
              </a:lnSpc>
              <a:spcBef>
                <a:spcPts val="0"/>
              </a:spcBef>
              <a:defRPr sz="3200" b="1">
                <a:solidFill>
                  <a:srgbClr val="FFFFFF"/>
                </a:solidFill>
                <a:latin typeface="Arial"/>
                <a:ea typeface="Arial"/>
                <a:cs typeface="Arial"/>
                <a:sym typeface="Arial"/>
              </a:defRPr>
            </a:lvl1pPr>
          </a:lstStyle>
          <a:p>
            <a:r>
              <a:t>DEAD FISH</a:t>
            </a:r>
          </a:p>
        </p:txBody>
      </p:sp>
      <p:sp>
        <p:nvSpPr>
          <p:cNvPr id="201" name="Line"/>
          <p:cNvSpPr/>
          <p:nvPr/>
        </p:nvSpPr>
        <p:spPr>
          <a:xfrm>
            <a:off x="16837112" y="11616263"/>
            <a:ext cx="1" cy="358434"/>
          </a:xfrm>
          <a:prstGeom prst="line">
            <a:avLst/>
          </a:prstGeom>
          <a:ln w="50800">
            <a:solidFill>
              <a:schemeClr val="accent1">
                <a:hueOff val="114395"/>
                <a:lumOff val="-24975"/>
              </a:schemeClr>
            </a:solidFill>
            <a:miter lim="400000"/>
            <a:tailEnd type="triangle"/>
          </a:ln>
        </p:spPr>
        <p:txBody>
          <a:bodyPr lIns="50800" tIns="50800" rIns="50800" bIns="50800" anchor="ctr"/>
          <a:lstStyle/>
          <a:p>
            <a:endParaRPr/>
          </a:p>
        </p:txBody>
      </p:sp>
      <p:sp>
        <p:nvSpPr>
          <p:cNvPr id="202" name="What they share"/>
          <p:cNvSpPr txBox="1"/>
          <p:nvPr/>
        </p:nvSpPr>
        <p:spPr>
          <a:xfrm>
            <a:off x="10603728" y="10345172"/>
            <a:ext cx="1501379" cy="3112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defTabSz="457200">
              <a:lnSpc>
                <a:spcPct val="100000"/>
              </a:lnSpc>
              <a:spcBef>
                <a:spcPts val="0"/>
              </a:spcBef>
              <a:defRPr sz="1500" i="1">
                <a:latin typeface="Arial"/>
                <a:ea typeface="Arial"/>
                <a:cs typeface="Arial"/>
                <a:sym typeface="Arial"/>
              </a:defRPr>
            </a:lvl1pPr>
          </a:lstStyle>
          <a:p>
            <a:r>
              <a:t>What they share</a:t>
            </a:r>
          </a:p>
        </p:txBody>
      </p:sp>
      <p:sp>
        <p:nvSpPr>
          <p:cNvPr id="203" name="How it might show up in extraction in 2 different ways"/>
          <p:cNvSpPr txBox="1"/>
          <p:nvPr/>
        </p:nvSpPr>
        <p:spPr>
          <a:xfrm>
            <a:off x="10603727" y="4131417"/>
            <a:ext cx="4593098" cy="3112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defTabSz="457200">
              <a:lnSpc>
                <a:spcPct val="100000"/>
              </a:lnSpc>
              <a:spcBef>
                <a:spcPts val="0"/>
              </a:spcBef>
              <a:defRPr sz="1500" i="1">
                <a:latin typeface="Arial"/>
                <a:ea typeface="Arial"/>
                <a:cs typeface="Arial"/>
                <a:sym typeface="Arial"/>
              </a:defRPr>
            </a:lvl1pPr>
          </a:lstStyle>
          <a:p>
            <a:r>
              <a:t>How it might show up in extraction in 2 different ways</a:t>
            </a:r>
          </a:p>
        </p:txBody>
      </p:sp>
      <p:sp>
        <p:nvSpPr>
          <p:cNvPr id="204" name="Source example"/>
          <p:cNvSpPr txBox="1"/>
          <p:nvPr/>
        </p:nvSpPr>
        <p:spPr>
          <a:xfrm>
            <a:off x="10603727" y="2659318"/>
            <a:ext cx="1490869" cy="31126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defTabSz="457200">
              <a:lnSpc>
                <a:spcPct val="100000"/>
              </a:lnSpc>
              <a:spcBef>
                <a:spcPts val="0"/>
              </a:spcBef>
              <a:defRPr sz="1500" i="1">
                <a:latin typeface="Arial"/>
                <a:ea typeface="Arial"/>
                <a:cs typeface="Arial"/>
                <a:sym typeface="Arial"/>
              </a:defRPr>
            </a:lvl1pPr>
          </a:lstStyle>
          <a:p>
            <a:r>
              <a:t>Source example</a:t>
            </a:r>
          </a:p>
        </p:txBody>
      </p:sp>
      <p:sp>
        <p:nvSpPr>
          <p:cNvPr id="205" name="1)"/>
          <p:cNvSpPr txBox="1"/>
          <p:nvPr/>
        </p:nvSpPr>
        <p:spPr>
          <a:xfrm>
            <a:off x="10638024" y="4460778"/>
            <a:ext cx="283686" cy="31126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defTabSz="457200">
              <a:lnSpc>
                <a:spcPct val="100000"/>
              </a:lnSpc>
              <a:spcBef>
                <a:spcPts val="0"/>
              </a:spcBef>
              <a:defRPr sz="1500" i="1">
                <a:latin typeface="Arial"/>
                <a:ea typeface="Arial"/>
                <a:cs typeface="Arial"/>
                <a:sym typeface="Arial"/>
              </a:defRPr>
            </a:lvl1pPr>
          </a:lstStyle>
          <a:p>
            <a:r>
              <a:t>1)</a:t>
            </a:r>
          </a:p>
        </p:txBody>
      </p:sp>
      <p:sp>
        <p:nvSpPr>
          <p:cNvPr id="206" name="2)"/>
          <p:cNvSpPr txBox="1"/>
          <p:nvPr/>
        </p:nvSpPr>
        <p:spPr>
          <a:xfrm>
            <a:off x="16963168" y="4460778"/>
            <a:ext cx="283686" cy="31126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defTabSz="457200">
              <a:lnSpc>
                <a:spcPct val="100000"/>
              </a:lnSpc>
              <a:spcBef>
                <a:spcPts val="0"/>
              </a:spcBef>
              <a:defRPr sz="1500" i="1">
                <a:latin typeface="Arial"/>
                <a:ea typeface="Arial"/>
                <a:cs typeface="Arial"/>
                <a:sym typeface="Arial"/>
              </a:defRPr>
            </a:lvl1pPr>
          </a:lstStyle>
          <a:p>
            <a:r>
              <a:t>2)</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Same” actually contains several different questions"/>
          <p:cNvSpPr txBox="1">
            <a:spLocks noGrp="1"/>
          </p:cNvSpPr>
          <p:nvPr>
            <p:ph type="title"/>
          </p:nvPr>
        </p:nvSpPr>
        <p:spPr>
          <a:prstGeom prst="rect">
            <a:avLst/>
          </a:prstGeom>
        </p:spPr>
        <p:txBody>
          <a:bodyPr/>
          <a:lstStyle>
            <a:lvl1pPr defTabSz="2048204">
              <a:defRPr sz="7140" spc="-142"/>
            </a:lvl1pPr>
          </a:lstStyle>
          <a:p>
            <a:r>
              <a:t>“Same” actually contains several different questions</a:t>
            </a:r>
          </a:p>
        </p:txBody>
      </p:sp>
      <p:sp>
        <p:nvSpPr>
          <p:cNvPr id="209" name="Slide Subtitle"/>
          <p:cNvSpPr txBox="1">
            <a:spLocks noGrp="1"/>
          </p:cNvSpPr>
          <p:nvPr>
            <p:ph type="body" idx="21"/>
          </p:nvPr>
        </p:nvSpPr>
        <p:spPr>
          <a:prstGeom prst="rect">
            <a:avLst/>
          </a:prstGeom>
        </p:spPr>
        <p:txBody>
          <a:bodyPr/>
          <a:lstStyle/>
          <a:p>
            <a:endParaRPr/>
          </a:p>
        </p:txBody>
      </p:sp>
      <p:sp>
        <p:nvSpPr>
          <p:cNvPr id="210" name="This is probably the most important thing for us to align on.…"/>
          <p:cNvSpPr txBox="1">
            <a:spLocks noGrp="1"/>
          </p:cNvSpPr>
          <p:nvPr>
            <p:ph type="body" sz="half" idx="1"/>
          </p:nvPr>
        </p:nvSpPr>
        <p:spPr>
          <a:xfrm>
            <a:off x="1190499" y="4234009"/>
            <a:ext cx="8396212" cy="8581664"/>
          </a:xfrm>
          <a:prstGeom prst="rect">
            <a:avLst/>
          </a:prstGeom>
        </p:spPr>
        <p:txBody>
          <a:bodyPr/>
          <a:lstStyle/>
          <a:p>
            <a:pPr marL="0" indent="0">
              <a:buSzTx/>
              <a:buNone/>
              <a:defRPr sz="4000"/>
            </a:pPr>
            <a:r>
              <a:t>This is probably the most important thing for us to align on.</a:t>
            </a:r>
          </a:p>
          <a:p>
            <a:pPr marL="0" indent="0">
              <a:buSzTx/>
              <a:buNone/>
              <a:defRPr sz="4000"/>
            </a:pPr>
            <a:r>
              <a:t>When we say:</a:t>
            </a:r>
          </a:p>
          <a:p>
            <a:pPr marL="0" indent="0">
              <a:buSzTx/>
              <a:buNone/>
              <a:defRPr sz="4000"/>
            </a:pPr>
            <a:r>
              <a:t>“Are these the same requirement / task?”</a:t>
            </a:r>
          </a:p>
          <a:p>
            <a:pPr marL="0" indent="0">
              <a:buSzTx/>
              <a:buNone/>
              <a:defRPr sz="4000"/>
            </a:pPr>
            <a:r>
              <a:t>We may actually be asking at least four questions…</a:t>
            </a:r>
          </a:p>
        </p:txBody>
      </p:sp>
      <p:sp>
        <p:nvSpPr>
          <p:cNvPr id="211" name="A. Semantic equivalence…"/>
          <p:cNvSpPr/>
          <p:nvPr/>
        </p:nvSpPr>
        <p:spPr>
          <a:xfrm>
            <a:off x="10595257" y="2961914"/>
            <a:ext cx="5928452" cy="3685849"/>
          </a:xfrm>
          <a:prstGeom prst="roundRect">
            <a:avLst>
              <a:gd name="adj" fmla="val 5168"/>
            </a:avLst>
          </a:prstGeom>
          <a:solidFill>
            <a:srgbClr val="01102C"/>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lstStyle/>
          <a:p>
            <a:pPr marL="127000" marR="127000" algn="ctr" defTabSz="825500">
              <a:lnSpc>
                <a:spcPct val="100000"/>
              </a:lnSpc>
              <a:spcBef>
                <a:spcPts val="0"/>
              </a:spcBef>
              <a:defRPr sz="2400" b="1">
                <a:solidFill>
                  <a:srgbClr val="FFFFFF"/>
                </a:solidFill>
                <a:latin typeface="Arial"/>
                <a:ea typeface="Arial"/>
                <a:cs typeface="Arial"/>
                <a:sym typeface="Arial"/>
              </a:defRPr>
            </a:pPr>
            <a:endParaRPr/>
          </a:p>
          <a:p>
            <a:pPr marL="127000" marR="127000" algn="ctr" defTabSz="825500">
              <a:lnSpc>
                <a:spcPct val="100000"/>
              </a:lnSpc>
              <a:spcBef>
                <a:spcPts val="0"/>
              </a:spcBef>
              <a:defRPr sz="2400" b="1">
                <a:solidFill>
                  <a:srgbClr val="FFFFFF"/>
                </a:solidFill>
                <a:latin typeface="Arial"/>
                <a:ea typeface="Arial"/>
                <a:cs typeface="Arial"/>
                <a:sym typeface="Arial"/>
              </a:defRPr>
            </a:pPr>
            <a:r>
              <a:t>A. Semantic equivalence</a:t>
            </a:r>
          </a:p>
          <a:p>
            <a:pPr marL="127000" marR="127000" algn="ctr" defTabSz="825500">
              <a:lnSpc>
                <a:spcPct val="100000"/>
              </a:lnSpc>
              <a:spcBef>
                <a:spcPts val="0"/>
              </a:spcBef>
              <a:defRPr sz="2400" i="1">
                <a:solidFill>
                  <a:srgbClr val="FFFFFF"/>
                </a:solidFill>
                <a:latin typeface="Arial"/>
                <a:ea typeface="Arial"/>
                <a:cs typeface="Arial"/>
                <a:sym typeface="Arial"/>
              </a:defRPr>
            </a:pPr>
            <a:r>
              <a:t>Do these statements mean the same thing?</a:t>
            </a:r>
          </a:p>
          <a:p>
            <a:pPr marL="127000" marR="127000" algn="ctr" defTabSz="825500">
              <a:lnSpc>
                <a:spcPct val="100000"/>
              </a:lnSpc>
              <a:spcBef>
                <a:spcPts val="0"/>
              </a:spcBef>
              <a:defRPr sz="2400">
                <a:solidFill>
                  <a:srgbClr val="FFFFFF"/>
                </a:solidFill>
                <a:latin typeface="Arial"/>
                <a:ea typeface="Arial"/>
                <a:cs typeface="Arial"/>
                <a:sym typeface="Arial"/>
              </a:defRPr>
            </a:pPr>
            <a:endParaRPr/>
          </a:p>
          <a:p>
            <a:pPr marL="127000" marR="127000" algn="ctr" defTabSz="825500">
              <a:lnSpc>
                <a:spcPct val="100000"/>
              </a:lnSpc>
              <a:spcBef>
                <a:spcPts val="0"/>
              </a:spcBef>
              <a:defRPr sz="2400">
                <a:solidFill>
                  <a:srgbClr val="FFFFFF"/>
                </a:solidFill>
                <a:latin typeface="Arial"/>
                <a:ea typeface="Arial"/>
                <a:cs typeface="Arial"/>
                <a:sym typeface="Arial"/>
              </a:defRPr>
            </a:pPr>
            <a:endParaRPr/>
          </a:p>
          <a:p>
            <a:pPr marL="127000" marR="127000" algn="ctr" defTabSz="825500">
              <a:lnSpc>
                <a:spcPct val="100000"/>
              </a:lnSpc>
              <a:spcBef>
                <a:spcPts val="0"/>
              </a:spcBef>
              <a:defRPr sz="2400">
                <a:solidFill>
                  <a:srgbClr val="FFFFFF"/>
                </a:solidFill>
                <a:latin typeface="Arial"/>
                <a:ea typeface="Arial"/>
                <a:cs typeface="Arial"/>
                <a:sym typeface="Arial"/>
              </a:defRPr>
            </a:pPr>
            <a:r>
              <a:t>Check for dead fish</a:t>
            </a:r>
          </a:p>
          <a:p>
            <a:pPr marL="127000" marR="127000" algn="ctr" defTabSz="825500">
              <a:lnSpc>
                <a:spcPct val="100000"/>
              </a:lnSpc>
              <a:spcBef>
                <a:spcPts val="0"/>
              </a:spcBef>
              <a:defRPr sz="2400">
                <a:solidFill>
                  <a:srgbClr val="FFFFFF"/>
                </a:solidFill>
                <a:latin typeface="Arial"/>
                <a:ea typeface="Arial"/>
                <a:cs typeface="Arial"/>
                <a:sym typeface="Arial"/>
              </a:defRPr>
            </a:pPr>
            <a:endParaRPr/>
          </a:p>
          <a:p>
            <a:pPr marL="127000" marR="127000" algn="ctr" defTabSz="825500">
              <a:lnSpc>
                <a:spcPct val="100000"/>
              </a:lnSpc>
              <a:spcBef>
                <a:spcPts val="0"/>
              </a:spcBef>
              <a:defRPr sz="2400">
                <a:solidFill>
                  <a:srgbClr val="FFFFFF"/>
                </a:solidFill>
                <a:latin typeface="Arial"/>
                <a:ea typeface="Arial"/>
                <a:cs typeface="Arial"/>
                <a:sym typeface="Arial"/>
              </a:defRPr>
            </a:pPr>
            <a:r>
              <a:t>Inspect for dead fish</a:t>
            </a:r>
          </a:p>
        </p:txBody>
      </p:sp>
      <p:sp>
        <p:nvSpPr>
          <p:cNvPr id="212" name="B. Shared operational action…"/>
          <p:cNvSpPr/>
          <p:nvPr/>
        </p:nvSpPr>
        <p:spPr>
          <a:xfrm>
            <a:off x="16762239" y="2961914"/>
            <a:ext cx="5928453" cy="5480649"/>
          </a:xfrm>
          <a:prstGeom prst="roundRect">
            <a:avLst>
              <a:gd name="adj" fmla="val 3476"/>
            </a:avLst>
          </a:prstGeom>
          <a:solidFill>
            <a:srgbClr val="01102C"/>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lstStyle/>
          <a:p>
            <a:pPr marL="127000" marR="127000" algn="ctr" defTabSz="825500">
              <a:lnSpc>
                <a:spcPct val="100000"/>
              </a:lnSpc>
              <a:spcBef>
                <a:spcPts val="0"/>
              </a:spcBef>
              <a:defRPr sz="2400" b="1">
                <a:solidFill>
                  <a:srgbClr val="FFFFFF"/>
                </a:solidFill>
                <a:latin typeface="Arial"/>
                <a:ea typeface="Arial"/>
                <a:cs typeface="Arial"/>
                <a:sym typeface="Arial"/>
              </a:defRPr>
            </a:pPr>
            <a:endParaRPr/>
          </a:p>
          <a:p>
            <a:pPr marL="127000" marR="127000" algn="ctr" defTabSz="825500">
              <a:lnSpc>
                <a:spcPct val="100000"/>
              </a:lnSpc>
              <a:spcBef>
                <a:spcPts val="0"/>
              </a:spcBef>
              <a:defRPr sz="2400" b="1">
                <a:solidFill>
                  <a:srgbClr val="FFFFFF"/>
                </a:solidFill>
                <a:latin typeface="Arial"/>
                <a:ea typeface="Arial"/>
                <a:cs typeface="Arial"/>
                <a:sym typeface="Arial"/>
              </a:defRPr>
            </a:pPr>
            <a:r>
              <a:t>B. Shared operational action</a:t>
            </a:r>
          </a:p>
          <a:p>
            <a:pPr marL="127000" marR="127000" algn="ctr" defTabSz="825500">
              <a:lnSpc>
                <a:spcPct val="100000"/>
              </a:lnSpc>
              <a:spcBef>
                <a:spcPts val="0"/>
              </a:spcBef>
              <a:defRPr sz="2400" i="1">
                <a:solidFill>
                  <a:srgbClr val="FFFFFF"/>
                </a:solidFill>
                <a:latin typeface="Arial"/>
                <a:ea typeface="Arial"/>
                <a:cs typeface="Arial"/>
                <a:sym typeface="Arial"/>
              </a:defRPr>
            </a:pPr>
            <a:r>
              <a:t>Do these requirements contain the same action?</a:t>
            </a:r>
          </a:p>
          <a:p>
            <a:pPr marL="127000" marR="127000" algn="ctr" defTabSz="825500">
              <a:lnSpc>
                <a:spcPct val="100000"/>
              </a:lnSpc>
              <a:spcBef>
                <a:spcPts val="0"/>
              </a:spcBef>
              <a:defRPr sz="2400">
                <a:solidFill>
                  <a:srgbClr val="FFFFFF"/>
                </a:solidFill>
                <a:latin typeface="Arial"/>
                <a:ea typeface="Arial"/>
                <a:cs typeface="Arial"/>
                <a:sym typeface="Arial"/>
              </a:defRPr>
            </a:pPr>
            <a:endParaRPr/>
          </a:p>
          <a:p>
            <a:pPr marL="127000" marR="127000" algn="ctr" defTabSz="825500">
              <a:lnSpc>
                <a:spcPct val="100000"/>
              </a:lnSpc>
              <a:spcBef>
                <a:spcPts val="0"/>
              </a:spcBef>
              <a:defRPr sz="2400">
                <a:solidFill>
                  <a:srgbClr val="FFFFFF"/>
                </a:solidFill>
                <a:latin typeface="Arial"/>
                <a:ea typeface="Arial"/>
                <a:cs typeface="Arial"/>
                <a:sym typeface="Arial"/>
              </a:defRPr>
            </a:pPr>
            <a:r>
              <a:t>Requirement A:</a:t>
            </a:r>
          </a:p>
          <a:p>
            <a:pPr marL="127000" marR="127000" algn="ctr" defTabSz="825500">
              <a:lnSpc>
                <a:spcPct val="100000"/>
              </a:lnSpc>
              <a:spcBef>
                <a:spcPts val="0"/>
              </a:spcBef>
              <a:defRPr sz="2400">
                <a:solidFill>
                  <a:srgbClr val="FFFFFF"/>
                </a:solidFill>
                <a:latin typeface="Arial"/>
                <a:ea typeface="Arial"/>
                <a:cs typeface="Arial"/>
                <a:sym typeface="Arial"/>
              </a:defRPr>
            </a:pPr>
            <a:r>
              <a:t>Check dead fish</a:t>
            </a:r>
          </a:p>
          <a:p>
            <a:pPr marL="127000" marR="127000" algn="ctr" defTabSz="825500">
              <a:lnSpc>
                <a:spcPct val="100000"/>
              </a:lnSpc>
              <a:spcBef>
                <a:spcPts val="0"/>
              </a:spcBef>
              <a:defRPr sz="2400">
                <a:solidFill>
                  <a:srgbClr val="FFFFFF"/>
                </a:solidFill>
                <a:latin typeface="Arial"/>
                <a:ea typeface="Arial"/>
                <a:cs typeface="Arial"/>
                <a:sym typeface="Arial"/>
              </a:defRPr>
            </a:pPr>
            <a:endParaRPr/>
          </a:p>
          <a:p>
            <a:pPr marL="127000" marR="127000" algn="ctr" defTabSz="825500">
              <a:lnSpc>
                <a:spcPct val="100000"/>
              </a:lnSpc>
              <a:spcBef>
                <a:spcPts val="0"/>
              </a:spcBef>
              <a:defRPr sz="2400">
                <a:solidFill>
                  <a:srgbClr val="FFFFFF"/>
                </a:solidFill>
                <a:latin typeface="Arial"/>
                <a:ea typeface="Arial"/>
                <a:cs typeface="Arial"/>
                <a:sym typeface="Arial"/>
              </a:defRPr>
            </a:pPr>
            <a:r>
              <a:t>Requirement B:</a:t>
            </a:r>
          </a:p>
          <a:p>
            <a:pPr marL="127000" marR="127000" algn="ctr" defTabSz="825500">
              <a:lnSpc>
                <a:spcPct val="100000"/>
              </a:lnSpc>
              <a:spcBef>
                <a:spcPts val="0"/>
              </a:spcBef>
              <a:defRPr sz="2400">
                <a:solidFill>
                  <a:srgbClr val="FFFFFF"/>
                </a:solidFill>
                <a:latin typeface="Arial"/>
                <a:ea typeface="Arial"/>
                <a:cs typeface="Arial"/>
                <a:sym typeface="Arial"/>
              </a:defRPr>
            </a:pPr>
            <a:r>
              <a:t>Check dead fish + remove dead fish</a:t>
            </a:r>
          </a:p>
          <a:p>
            <a:pPr marL="127000" marR="127000" algn="ctr" defTabSz="825500">
              <a:lnSpc>
                <a:spcPct val="100000"/>
              </a:lnSpc>
              <a:spcBef>
                <a:spcPts val="0"/>
              </a:spcBef>
              <a:defRPr sz="2400">
                <a:solidFill>
                  <a:srgbClr val="FFFFFF"/>
                </a:solidFill>
                <a:latin typeface="Arial"/>
                <a:ea typeface="Arial"/>
                <a:cs typeface="Arial"/>
                <a:sym typeface="Arial"/>
              </a:defRPr>
            </a:pPr>
            <a:endParaRPr/>
          </a:p>
          <a:p>
            <a:pPr marL="127000" marR="127000" algn="ctr" defTabSz="825500">
              <a:lnSpc>
                <a:spcPct val="100000"/>
              </a:lnSpc>
              <a:spcBef>
                <a:spcPts val="0"/>
              </a:spcBef>
              <a:defRPr sz="2400">
                <a:solidFill>
                  <a:srgbClr val="FFFFFF"/>
                </a:solidFill>
                <a:latin typeface="Arial"/>
                <a:ea typeface="Arial"/>
                <a:cs typeface="Arial"/>
                <a:sym typeface="Arial"/>
              </a:defRPr>
            </a:pPr>
            <a:endParaRPr/>
          </a:p>
          <a:p>
            <a:pPr marL="127000" marR="127000" algn="ctr" defTabSz="825500">
              <a:lnSpc>
                <a:spcPct val="100000"/>
              </a:lnSpc>
              <a:spcBef>
                <a:spcPts val="0"/>
              </a:spcBef>
              <a:defRPr sz="2400">
                <a:solidFill>
                  <a:srgbClr val="FFFFFF"/>
                </a:solidFill>
                <a:latin typeface="Arial"/>
                <a:ea typeface="Arial"/>
                <a:cs typeface="Arial"/>
                <a:sym typeface="Arial"/>
              </a:defRPr>
            </a:pPr>
            <a:r>
              <a:t>They are not equivalent requirements, but they share an action.</a:t>
            </a:r>
          </a:p>
        </p:txBody>
      </p:sp>
      <p:sp>
        <p:nvSpPr>
          <p:cNvPr id="213" name="C. Logical implication…"/>
          <p:cNvSpPr/>
          <p:nvPr/>
        </p:nvSpPr>
        <p:spPr>
          <a:xfrm>
            <a:off x="10595257" y="6869869"/>
            <a:ext cx="5928452" cy="5837825"/>
          </a:xfrm>
          <a:prstGeom prst="roundRect">
            <a:avLst>
              <a:gd name="adj" fmla="val 3263"/>
            </a:avLst>
          </a:prstGeom>
          <a:solidFill>
            <a:srgbClr val="01102C"/>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lstStyle/>
          <a:p>
            <a:pPr marL="127000" marR="127000" algn="ctr" defTabSz="825500">
              <a:lnSpc>
                <a:spcPct val="100000"/>
              </a:lnSpc>
              <a:spcBef>
                <a:spcPts val="0"/>
              </a:spcBef>
              <a:defRPr sz="2400" b="1">
                <a:solidFill>
                  <a:srgbClr val="FFFFFF"/>
                </a:solidFill>
                <a:latin typeface="Arial"/>
                <a:ea typeface="Arial"/>
                <a:cs typeface="Arial"/>
                <a:sym typeface="Arial"/>
              </a:defRPr>
            </a:pPr>
            <a:endParaRPr/>
          </a:p>
          <a:p>
            <a:pPr marL="127000" marR="127000" algn="ctr" defTabSz="825500">
              <a:lnSpc>
                <a:spcPct val="100000"/>
              </a:lnSpc>
              <a:spcBef>
                <a:spcPts val="0"/>
              </a:spcBef>
              <a:defRPr sz="2400" b="1">
                <a:solidFill>
                  <a:srgbClr val="FFFFFF"/>
                </a:solidFill>
                <a:latin typeface="Arial"/>
                <a:ea typeface="Arial"/>
                <a:cs typeface="Arial"/>
                <a:sym typeface="Arial"/>
              </a:defRPr>
            </a:pPr>
            <a:r>
              <a:t>C. Logical implication</a:t>
            </a:r>
          </a:p>
          <a:p>
            <a:pPr marL="127000" marR="127000" algn="ctr" defTabSz="825500">
              <a:lnSpc>
                <a:spcPct val="100000"/>
              </a:lnSpc>
              <a:spcBef>
                <a:spcPts val="0"/>
              </a:spcBef>
              <a:defRPr sz="2400" i="1">
                <a:solidFill>
                  <a:srgbClr val="FFFFFF"/>
                </a:solidFill>
                <a:latin typeface="Arial"/>
                <a:ea typeface="Arial"/>
                <a:cs typeface="Arial"/>
                <a:sym typeface="Arial"/>
              </a:defRPr>
            </a:pPr>
            <a:r>
              <a:t>Does satisfying A necessarily satisfy B?</a:t>
            </a:r>
          </a:p>
          <a:p>
            <a:pPr marL="127000" marR="127000" algn="ctr" defTabSz="825500">
              <a:lnSpc>
                <a:spcPct val="100000"/>
              </a:lnSpc>
              <a:spcBef>
                <a:spcPts val="0"/>
              </a:spcBef>
              <a:defRPr sz="2400" b="1">
                <a:solidFill>
                  <a:srgbClr val="FFFFFF"/>
                </a:solidFill>
                <a:latin typeface="Arial"/>
                <a:ea typeface="Arial"/>
                <a:cs typeface="Arial"/>
                <a:sym typeface="Arial"/>
              </a:defRPr>
            </a:pPr>
            <a:endParaRPr/>
          </a:p>
          <a:p>
            <a:pPr marL="127000" marR="127000" algn="ctr" defTabSz="825500">
              <a:lnSpc>
                <a:spcPct val="100000"/>
              </a:lnSpc>
              <a:spcBef>
                <a:spcPts val="0"/>
              </a:spcBef>
              <a:defRPr sz="2400">
                <a:solidFill>
                  <a:srgbClr val="FFFFFF"/>
                </a:solidFill>
                <a:latin typeface="Arial"/>
                <a:ea typeface="Arial"/>
                <a:cs typeface="Arial"/>
                <a:sym typeface="Arial"/>
              </a:defRPr>
            </a:pPr>
            <a:r>
              <a:t>A: inspect ≤ every 1 day</a:t>
            </a:r>
          </a:p>
          <a:p>
            <a:pPr marL="127000" marR="127000" algn="ctr" defTabSz="825500">
              <a:lnSpc>
                <a:spcPct val="100000"/>
              </a:lnSpc>
              <a:spcBef>
                <a:spcPts val="0"/>
              </a:spcBef>
              <a:defRPr sz="2400">
                <a:solidFill>
                  <a:srgbClr val="FFFFFF"/>
                </a:solidFill>
                <a:latin typeface="Arial"/>
                <a:ea typeface="Arial"/>
                <a:cs typeface="Arial"/>
                <a:sym typeface="Arial"/>
              </a:defRPr>
            </a:pPr>
            <a:endParaRPr/>
          </a:p>
          <a:p>
            <a:pPr marL="127000" marR="127000" algn="ctr" defTabSz="825500">
              <a:lnSpc>
                <a:spcPct val="100000"/>
              </a:lnSpc>
              <a:spcBef>
                <a:spcPts val="0"/>
              </a:spcBef>
              <a:defRPr sz="2400">
                <a:solidFill>
                  <a:srgbClr val="FFFFFF"/>
                </a:solidFill>
                <a:latin typeface="Arial"/>
                <a:ea typeface="Arial"/>
                <a:cs typeface="Arial"/>
                <a:sym typeface="Arial"/>
              </a:defRPr>
            </a:pPr>
            <a:r>
              <a:t>B: inspect ≤ every 30 days</a:t>
            </a:r>
          </a:p>
          <a:p>
            <a:pPr marL="127000" marR="127000" algn="ctr" defTabSz="825500">
              <a:lnSpc>
                <a:spcPct val="100000"/>
              </a:lnSpc>
              <a:spcBef>
                <a:spcPts val="0"/>
              </a:spcBef>
              <a:defRPr sz="2400">
                <a:solidFill>
                  <a:srgbClr val="FFFFFF"/>
                </a:solidFill>
                <a:latin typeface="Arial"/>
                <a:ea typeface="Arial"/>
                <a:cs typeface="Arial"/>
                <a:sym typeface="Arial"/>
              </a:defRPr>
            </a:pPr>
            <a:endParaRPr/>
          </a:p>
          <a:p>
            <a:pPr marL="127000" marR="127000" algn="ctr" defTabSz="825500">
              <a:lnSpc>
                <a:spcPct val="100000"/>
              </a:lnSpc>
              <a:spcBef>
                <a:spcPts val="0"/>
              </a:spcBef>
              <a:defRPr sz="2400">
                <a:solidFill>
                  <a:srgbClr val="FFFFFF"/>
                </a:solidFill>
                <a:latin typeface="Arial"/>
                <a:ea typeface="Arial"/>
                <a:cs typeface="Arial"/>
                <a:sym typeface="Arial"/>
              </a:defRPr>
            </a:pPr>
            <a:r>
              <a:t>Assuming scope, method, conditions etc. are compatible:</a:t>
            </a:r>
          </a:p>
          <a:p>
            <a:pPr marL="127000" marR="127000" algn="ctr" defTabSz="825500">
              <a:lnSpc>
                <a:spcPct val="100000"/>
              </a:lnSpc>
              <a:spcBef>
                <a:spcPts val="0"/>
              </a:spcBef>
              <a:defRPr sz="2400" b="1">
                <a:solidFill>
                  <a:srgbClr val="FFFFFF"/>
                </a:solidFill>
                <a:latin typeface="Arial"/>
                <a:ea typeface="Arial"/>
                <a:cs typeface="Arial"/>
                <a:sym typeface="Arial"/>
              </a:defRPr>
            </a:pPr>
            <a:endParaRPr/>
          </a:p>
          <a:p>
            <a:pPr marL="127000" marR="127000" algn="ctr" defTabSz="825500">
              <a:lnSpc>
                <a:spcPct val="100000"/>
              </a:lnSpc>
              <a:spcBef>
                <a:spcPts val="0"/>
              </a:spcBef>
              <a:defRPr sz="2400" b="1">
                <a:solidFill>
                  <a:srgbClr val="FFFFFF"/>
                </a:solidFill>
                <a:latin typeface="Arial"/>
                <a:ea typeface="Arial"/>
                <a:cs typeface="Arial"/>
                <a:sym typeface="Arial"/>
              </a:defRPr>
            </a:pPr>
            <a:r>
              <a:t>A satisfied</a:t>
            </a:r>
          </a:p>
          <a:p>
            <a:pPr marL="127000" marR="127000" algn="ctr" defTabSz="825500">
              <a:lnSpc>
                <a:spcPct val="100000"/>
              </a:lnSpc>
              <a:spcBef>
                <a:spcPts val="0"/>
              </a:spcBef>
              <a:defRPr sz="2400" b="1">
                <a:solidFill>
                  <a:srgbClr val="FFFFFF"/>
                </a:solidFill>
                <a:latin typeface="Arial"/>
                <a:ea typeface="Arial"/>
                <a:cs typeface="Arial"/>
                <a:sym typeface="Arial"/>
              </a:defRPr>
            </a:pPr>
            <a:r>
              <a:t>      ↓</a:t>
            </a:r>
          </a:p>
          <a:p>
            <a:pPr marL="127000" marR="127000" algn="ctr" defTabSz="825500">
              <a:lnSpc>
                <a:spcPct val="100000"/>
              </a:lnSpc>
              <a:spcBef>
                <a:spcPts val="0"/>
              </a:spcBef>
              <a:defRPr sz="2400" b="1">
                <a:solidFill>
                  <a:srgbClr val="FFFFFF"/>
                </a:solidFill>
                <a:latin typeface="Arial"/>
                <a:ea typeface="Arial"/>
                <a:cs typeface="Arial"/>
                <a:sym typeface="Arial"/>
              </a:defRPr>
            </a:pPr>
            <a:r>
              <a:t>B necessarily satisfied</a:t>
            </a:r>
          </a:p>
        </p:txBody>
      </p:sp>
      <p:sp>
        <p:nvSpPr>
          <p:cNvPr id="214" name="D. Evidence coverage…"/>
          <p:cNvSpPr/>
          <p:nvPr/>
        </p:nvSpPr>
        <p:spPr>
          <a:xfrm>
            <a:off x="16762239" y="8674607"/>
            <a:ext cx="5928453" cy="4015254"/>
          </a:xfrm>
          <a:prstGeom prst="roundRect">
            <a:avLst>
              <a:gd name="adj" fmla="val 4744"/>
            </a:avLst>
          </a:prstGeom>
          <a:solidFill>
            <a:srgbClr val="01102C"/>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lstStyle/>
          <a:p>
            <a:pPr marL="127000" marR="127000" algn="ctr" defTabSz="825500">
              <a:lnSpc>
                <a:spcPct val="100000"/>
              </a:lnSpc>
              <a:spcBef>
                <a:spcPts val="0"/>
              </a:spcBef>
              <a:defRPr sz="2400" b="1">
                <a:solidFill>
                  <a:srgbClr val="FFFFFF"/>
                </a:solidFill>
                <a:latin typeface="Arial"/>
                <a:ea typeface="Arial"/>
                <a:cs typeface="Arial"/>
                <a:sym typeface="Arial"/>
              </a:defRPr>
            </a:pPr>
            <a:endParaRPr/>
          </a:p>
          <a:p>
            <a:pPr marL="127000" marR="127000" algn="ctr" defTabSz="825500">
              <a:lnSpc>
                <a:spcPct val="100000"/>
              </a:lnSpc>
              <a:spcBef>
                <a:spcPts val="0"/>
              </a:spcBef>
              <a:defRPr sz="2400" b="1">
                <a:solidFill>
                  <a:srgbClr val="FFFFFF"/>
                </a:solidFill>
                <a:latin typeface="Arial"/>
                <a:ea typeface="Arial"/>
                <a:cs typeface="Arial"/>
                <a:sym typeface="Arial"/>
              </a:defRPr>
            </a:pPr>
            <a:r>
              <a:t>D. Evidence coverage</a:t>
            </a:r>
          </a:p>
          <a:p>
            <a:pPr marL="127000" marR="127000" algn="ctr" defTabSz="825500">
              <a:lnSpc>
                <a:spcPct val="100000"/>
              </a:lnSpc>
              <a:spcBef>
                <a:spcPts val="0"/>
              </a:spcBef>
              <a:defRPr sz="2400" i="1">
                <a:solidFill>
                  <a:srgbClr val="FFFFFF"/>
                </a:solidFill>
                <a:latin typeface="Arial"/>
                <a:ea typeface="Arial"/>
                <a:cs typeface="Arial"/>
                <a:sym typeface="Arial"/>
              </a:defRPr>
            </a:pPr>
            <a:r>
              <a:t>Can the same real-world evidence be used to demonstrate satisfaction of both?</a:t>
            </a:r>
          </a:p>
          <a:p>
            <a:pPr marL="127000" marR="127000" algn="ctr" defTabSz="825500">
              <a:lnSpc>
                <a:spcPct val="100000"/>
              </a:lnSpc>
              <a:spcBef>
                <a:spcPts val="0"/>
              </a:spcBef>
              <a:defRPr sz="2400" b="1">
                <a:solidFill>
                  <a:srgbClr val="FFFFFF"/>
                </a:solidFill>
                <a:latin typeface="Arial"/>
                <a:ea typeface="Arial"/>
                <a:cs typeface="Arial"/>
                <a:sym typeface="Arial"/>
              </a:defRPr>
            </a:pPr>
            <a:endParaRPr/>
          </a:p>
          <a:p>
            <a:pPr marL="127000" marR="127000" algn="ctr" defTabSz="825500">
              <a:lnSpc>
                <a:spcPct val="100000"/>
              </a:lnSpc>
              <a:spcBef>
                <a:spcPts val="0"/>
              </a:spcBef>
              <a:defRPr sz="2400" b="1">
                <a:solidFill>
                  <a:srgbClr val="FFFFFF"/>
                </a:solidFill>
                <a:latin typeface="Arial"/>
                <a:ea typeface="Arial"/>
                <a:cs typeface="Arial"/>
                <a:sym typeface="Arial"/>
              </a:defRPr>
            </a:pPr>
            <a:r>
              <a:t>These relationships should not automatically be treated as the same relationship.</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 name="This changes how we should think about versioning"/>
          <p:cNvSpPr txBox="1">
            <a:spLocks noGrp="1"/>
          </p:cNvSpPr>
          <p:nvPr>
            <p:ph type="title"/>
          </p:nvPr>
        </p:nvSpPr>
        <p:spPr>
          <a:prstGeom prst="rect">
            <a:avLst/>
          </a:prstGeom>
        </p:spPr>
        <p:txBody>
          <a:bodyPr>
            <a:normAutofit fontScale="90000"/>
          </a:bodyPr>
          <a:lstStyle>
            <a:lvl1pPr defTabSz="2072588">
              <a:defRPr sz="7225" spc="-144"/>
            </a:lvl1pPr>
          </a:lstStyle>
          <a:p>
            <a:r>
              <a:t>This changes how we should think about versioning</a:t>
            </a:r>
          </a:p>
        </p:txBody>
      </p:sp>
      <p:sp>
        <p:nvSpPr>
          <p:cNvPr id="217" name="Slide Subtitle"/>
          <p:cNvSpPr txBox="1">
            <a:spLocks noGrp="1"/>
          </p:cNvSpPr>
          <p:nvPr>
            <p:ph type="body" idx="21"/>
          </p:nvPr>
        </p:nvSpPr>
        <p:spPr>
          <a:prstGeom prst="rect">
            <a:avLst/>
          </a:prstGeom>
        </p:spPr>
        <p:txBody>
          <a:bodyPr/>
          <a:lstStyle/>
          <a:p>
            <a:endParaRPr/>
          </a:p>
        </p:txBody>
      </p:sp>
      <p:sp>
        <p:nvSpPr>
          <p:cNvPr id="218" name="The source text, page, document version and other provenance can change while the semantic representation remains equivalent.…"/>
          <p:cNvSpPr txBox="1">
            <a:spLocks noGrp="1"/>
          </p:cNvSpPr>
          <p:nvPr>
            <p:ph type="body" sz="half" idx="1"/>
          </p:nvPr>
        </p:nvSpPr>
        <p:spPr>
          <a:xfrm>
            <a:off x="14739689" y="4234009"/>
            <a:ext cx="8396213" cy="8132565"/>
          </a:xfrm>
          <a:prstGeom prst="rect">
            <a:avLst/>
          </a:prstGeom>
        </p:spPr>
        <p:txBody>
          <a:bodyPr/>
          <a:lstStyle/>
          <a:p>
            <a:pPr marL="0" indent="0" defTabSz="1999437">
              <a:spcBef>
                <a:spcPts val="3600"/>
              </a:spcBef>
              <a:buSzTx/>
              <a:buNone/>
              <a:defRPr sz="3936"/>
            </a:pPr>
            <a:r>
              <a:t>The source text, page, document version and other provenance can change while the semantic representation remains equivalent.</a:t>
            </a:r>
          </a:p>
          <a:p>
            <a:pPr marL="0" indent="0" defTabSz="1999437">
              <a:spcBef>
                <a:spcPts val="3600"/>
              </a:spcBef>
              <a:buSzTx/>
              <a:buNone/>
              <a:defRPr sz="3936"/>
            </a:pPr>
            <a:r>
              <a:t>So one question we need to investigate is:</a:t>
            </a:r>
          </a:p>
          <a:p>
            <a:pPr marL="0" indent="0" defTabSz="1999437">
              <a:spcBef>
                <a:spcPts val="3600"/>
              </a:spcBef>
              <a:buSzTx/>
              <a:buNone/>
              <a:defRPr sz="3936" b="1"/>
            </a:pPr>
            <a:r>
              <a:t>Do we actually need a manually maintained canonical task identity, or can operational identity emerge from the semantic representation?</a:t>
            </a:r>
          </a:p>
          <a:p>
            <a:pPr marL="0" indent="0" defTabSz="1999437">
              <a:spcBef>
                <a:spcPts val="3600"/>
              </a:spcBef>
              <a:buSzTx/>
              <a:buNone/>
              <a:defRPr sz="3936"/>
            </a:pPr>
            <a:r>
              <a:t>It could also be some combination of the two.</a:t>
            </a:r>
          </a:p>
        </p:txBody>
      </p:sp>
      <p:sp>
        <p:nvSpPr>
          <p:cNvPr id="219" name="Our original problem was:…"/>
          <p:cNvSpPr txBox="1"/>
          <p:nvPr/>
        </p:nvSpPr>
        <p:spPr>
          <a:xfrm>
            <a:off x="1224570" y="3700609"/>
            <a:ext cx="11671490" cy="30131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pPr defTabSz="1243552">
              <a:spcBef>
                <a:spcPts val="2200"/>
              </a:spcBef>
              <a:defRPr sz="2448"/>
            </a:pPr>
            <a:r>
              <a:t>Our original problem was:</a:t>
            </a:r>
          </a:p>
          <a:p>
            <a:pPr defTabSz="1243552">
              <a:spcBef>
                <a:spcPts val="2200"/>
              </a:spcBef>
              <a:defRPr sz="2448"/>
            </a:pPr>
            <a:r>
              <a:t>How do we know that action 47 from the 2020 manual is the same task as action 31 from the 2026 manual?</a:t>
            </a:r>
          </a:p>
          <a:p>
            <a:pPr defTabSz="1243552">
              <a:spcBef>
                <a:spcPts val="2200"/>
              </a:spcBef>
              <a:defRPr sz="2448"/>
            </a:pPr>
            <a:r>
              <a:t>That is still important.</a:t>
            </a:r>
          </a:p>
          <a:p>
            <a:pPr defTabSz="1243552">
              <a:spcBef>
                <a:spcPts val="2200"/>
              </a:spcBef>
              <a:defRPr sz="2448"/>
            </a:pPr>
            <a:r>
              <a:t>But a richer semantic representation might make this less dependent on manually maintaining a canonical ID.</a:t>
            </a:r>
          </a:p>
        </p:txBody>
      </p:sp>
      <p:sp>
        <p:nvSpPr>
          <p:cNvPr id="220" name="Instead of:…"/>
          <p:cNvSpPr txBox="1"/>
          <p:nvPr/>
        </p:nvSpPr>
        <p:spPr>
          <a:xfrm>
            <a:off x="1224570" y="6833344"/>
            <a:ext cx="11671490" cy="576151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pPr defTabSz="1121635">
              <a:spcBef>
                <a:spcPts val="2000"/>
              </a:spcBef>
              <a:defRPr sz="2208"/>
            </a:pPr>
            <a:r>
              <a:t>Instead of:</a:t>
            </a:r>
          </a:p>
          <a:p>
            <a:pPr defTabSz="1121635">
              <a:spcBef>
                <a:spcPts val="2000"/>
              </a:spcBef>
              <a:defRPr sz="2208"/>
            </a:pPr>
            <a:r>
              <a:t>2020 requirement → TASK-123</a:t>
            </a:r>
          </a:p>
          <a:p>
            <a:pPr defTabSz="1121635">
              <a:spcBef>
                <a:spcPts val="2000"/>
              </a:spcBef>
              <a:defRPr sz="2208"/>
            </a:pPr>
            <a:r>
              <a:t>2026 requirement → TASK-123</a:t>
            </a:r>
          </a:p>
          <a:p>
            <a:pPr defTabSz="1121635">
              <a:spcBef>
                <a:spcPts val="2000"/>
              </a:spcBef>
              <a:defRPr sz="2208"/>
            </a:pPr>
            <a:r>
              <a:t>we may be able to determine that both requirements resolve to equivalent logical representations.</a:t>
            </a:r>
          </a:p>
          <a:p>
            <a:pPr defTabSz="1121635">
              <a:spcBef>
                <a:spcPts val="2000"/>
              </a:spcBef>
              <a:defRPr sz="2208"/>
            </a:pPr>
            <a:r>
              <a:t>For example:</a:t>
            </a:r>
          </a:p>
          <a:p>
            <a:pPr defTabSz="1121635">
              <a:spcBef>
                <a:spcPts val="2000"/>
              </a:spcBef>
              <a:defRPr sz="2208"/>
            </a:pPr>
            <a:r>
              <a:t>2020 wording</a:t>
            </a:r>
            <a:br/>
            <a:r>
              <a:t>        ↓</a:t>
            </a:r>
            <a:br/>
            <a:r>
              <a:rPr b="1"/>
              <a:t>CHECK + DEAD FISH + ≤1 DAY</a:t>
            </a:r>
            <a:br/>
            <a:r>
              <a:t>        ↑</a:t>
            </a:r>
            <a:br/>
            <a:r>
              <a:t>2026 wording</a:t>
            </a:r>
          </a:p>
          <a:p>
            <a:pPr defTabSz="1121635">
              <a:spcBef>
                <a:spcPts val="2000"/>
              </a:spcBef>
              <a:defRPr sz="2208"/>
            </a:pPr>
            <a:r>
              <a:t>The source text, page, document version and other provenance can change while the semantic representation remains equivalent.</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 name="We should not assume requirements need to be merged"/>
          <p:cNvSpPr txBox="1">
            <a:spLocks noGrp="1"/>
          </p:cNvSpPr>
          <p:nvPr>
            <p:ph type="title"/>
          </p:nvPr>
        </p:nvSpPr>
        <p:spPr>
          <a:prstGeom prst="rect">
            <a:avLst/>
          </a:prstGeom>
        </p:spPr>
        <p:txBody>
          <a:bodyPr>
            <a:normAutofit fontScale="90000"/>
          </a:bodyPr>
          <a:lstStyle>
            <a:lvl1pPr defTabSz="1926287">
              <a:defRPr sz="6715" spc="-134"/>
            </a:lvl1pPr>
          </a:lstStyle>
          <a:p>
            <a:r>
              <a:t>We should not assume requirements need to be merged</a:t>
            </a:r>
          </a:p>
        </p:txBody>
      </p:sp>
      <p:sp>
        <p:nvSpPr>
          <p:cNvPr id="223" name="Slide Subtitle"/>
          <p:cNvSpPr txBox="1">
            <a:spLocks noGrp="1"/>
          </p:cNvSpPr>
          <p:nvPr>
            <p:ph type="body" idx="21"/>
          </p:nvPr>
        </p:nvSpPr>
        <p:spPr>
          <a:prstGeom prst="rect">
            <a:avLst/>
          </a:prstGeom>
        </p:spPr>
        <p:txBody>
          <a:bodyPr/>
          <a:lstStyle/>
          <a:p>
            <a:endParaRPr/>
          </a:p>
        </p:txBody>
      </p:sp>
      <p:sp>
        <p:nvSpPr>
          <p:cNvPr id="224" name="The system can instead reason:…"/>
          <p:cNvSpPr txBox="1">
            <a:spLocks noGrp="1"/>
          </p:cNvSpPr>
          <p:nvPr>
            <p:ph type="body" sz="half" idx="1"/>
          </p:nvPr>
        </p:nvSpPr>
        <p:spPr>
          <a:xfrm>
            <a:off x="13342748" y="3861794"/>
            <a:ext cx="10218784" cy="8864929"/>
          </a:xfrm>
          <a:prstGeom prst="rect">
            <a:avLst/>
          </a:prstGeom>
        </p:spPr>
        <p:txBody>
          <a:bodyPr/>
          <a:lstStyle/>
          <a:p>
            <a:pPr marL="0" indent="0" defTabSz="1389853">
              <a:spcBef>
                <a:spcPts val="2500"/>
              </a:spcBef>
              <a:buSzTx/>
              <a:buNone/>
              <a:defRPr sz="2736"/>
            </a:pPr>
            <a:r>
              <a:t>The system can instead reason:</a:t>
            </a:r>
          </a:p>
          <a:p>
            <a:pPr marL="0" indent="0" defTabSz="1389853">
              <a:spcBef>
                <a:spcPts val="2500"/>
              </a:spcBef>
              <a:buSzTx/>
              <a:buNone/>
              <a:defRPr sz="2736"/>
            </a:pPr>
            <a:r>
              <a:t>Last inspection = yesterday</a:t>
            </a:r>
          </a:p>
          <a:p>
            <a:pPr marL="0" indent="0" defTabSz="1389853">
              <a:spcBef>
                <a:spcPts val="2500"/>
              </a:spcBef>
              <a:buSzTx/>
              <a:buNone/>
              <a:defRPr sz="2736"/>
            </a:pPr>
            <a:r>
              <a:t>Requirement A:</a:t>
            </a:r>
            <a:br/>
            <a:r>
              <a:t>elapsed time ≤ 1 day</a:t>
            </a:r>
            <a:br/>
            <a:r>
              <a:t>✓</a:t>
            </a:r>
          </a:p>
          <a:p>
            <a:pPr marL="0" indent="0" defTabSz="1389853">
              <a:spcBef>
                <a:spcPts val="2500"/>
              </a:spcBef>
              <a:buSzTx/>
              <a:buNone/>
              <a:defRPr sz="2736"/>
            </a:pPr>
            <a:r>
              <a:t>Requirement B:</a:t>
            </a:r>
            <a:br/>
            <a:r>
              <a:t>elapsed time ≤ 30 days</a:t>
            </a:r>
            <a:br/>
            <a:r>
              <a:t>✓</a:t>
            </a:r>
          </a:p>
          <a:p>
            <a:pPr marL="0" indent="0" defTabSz="1389853">
              <a:spcBef>
                <a:spcPts val="2500"/>
              </a:spcBef>
              <a:buSzTx/>
              <a:buNone/>
              <a:defRPr sz="2736"/>
            </a:pPr>
            <a:r>
              <a:t>Nothing necessarily needs to be merged.</a:t>
            </a:r>
          </a:p>
          <a:p>
            <a:pPr marL="0" indent="0" defTabSz="1389853">
              <a:spcBef>
                <a:spcPts val="2500"/>
              </a:spcBef>
              <a:buSzTx/>
              <a:buNone/>
              <a:defRPr sz="2736"/>
            </a:pPr>
            <a:r>
              <a:t>This preserves provenance and makes reporting much cleaner. If an auditor asks:</a:t>
            </a:r>
          </a:p>
          <a:p>
            <a:pPr marL="0" indent="0" defTabSz="1389853">
              <a:spcBef>
                <a:spcPts val="2500"/>
              </a:spcBef>
              <a:buSzTx/>
              <a:buNone/>
              <a:defRPr sz="2736"/>
            </a:pPr>
            <a:r>
              <a:t>“Were the GlobalG.A.P. requirements satisfied?”</a:t>
            </a:r>
          </a:p>
          <a:p>
            <a:pPr marL="0" indent="0" defTabSz="1389853">
              <a:spcBef>
                <a:spcPts val="2500"/>
              </a:spcBef>
              <a:buSzTx/>
              <a:buNone/>
              <a:defRPr sz="2736"/>
            </a:pPr>
            <a:r>
              <a:t>we can evaluate the GlobalG.A.P. requirements directly, even though the user's actual behaviour may have been driven by another requirement.</a:t>
            </a:r>
          </a:p>
          <a:p>
            <a:pPr marL="0" indent="0" defTabSz="1389853">
              <a:spcBef>
                <a:spcPts val="2500"/>
              </a:spcBef>
              <a:buSzTx/>
              <a:buNone/>
              <a:defRPr sz="2736"/>
            </a:pPr>
            <a:r>
              <a:t>That is substantially more powerful than simple deduplication.</a:t>
            </a:r>
          </a:p>
        </p:txBody>
      </p:sp>
      <p:sp>
        <p:nvSpPr>
          <p:cNvPr id="225" name="Suppose for example:…"/>
          <p:cNvSpPr txBox="1"/>
          <p:nvPr/>
        </p:nvSpPr>
        <p:spPr>
          <a:xfrm>
            <a:off x="1224570" y="3700609"/>
            <a:ext cx="10218784" cy="88649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pPr defTabSz="1609303">
              <a:spcBef>
                <a:spcPts val="2900"/>
              </a:spcBef>
              <a:defRPr sz="3168"/>
            </a:pPr>
            <a:r>
              <a:t>Suppose for example:</a:t>
            </a:r>
          </a:p>
          <a:p>
            <a:pPr defTabSz="1609303">
              <a:spcBef>
                <a:spcPts val="2900"/>
              </a:spcBef>
              <a:defRPr sz="3168" b="1"/>
            </a:pPr>
            <a:r>
              <a:t>NYTEK-derived requirement</a:t>
            </a:r>
          </a:p>
          <a:p>
            <a:pPr defTabSz="1609303">
              <a:spcBef>
                <a:spcPts val="2900"/>
              </a:spcBef>
              <a:defRPr sz="3168" i="1"/>
            </a:pPr>
            <a:r>
              <a:t>Check X ≤ every 1 day</a:t>
            </a:r>
          </a:p>
          <a:p>
            <a:pPr defTabSz="1609303">
              <a:spcBef>
                <a:spcPts val="2900"/>
              </a:spcBef>
              <a:defRPr sz="3168"/>
            </a:pPr>
            <a:endParaRPr/>
          </a:p>
          <a:p>
            <a:pPr defTabSz="1609303">
              <a:spcBef>
                <a:spcPts val="2900"/>
              </a:spcBef>
              <a:defRPr sz="3168" b="1"/>
            </a:pPr>
            <a:r>
              <a:t>GlobalG.A.P.-derived requirement</a:t>
            </a:r>
          </a:p>
          <a:p>
            <a:pPr defTabSz="1609303">
              <a:spcBef>
                <a:spcPts val="2900"/>
              </a:spcBef>
              <a:defRPr sz="3168" i="1"/>
            </a:pPr>
            <a:r>
              <a:t>Check X ≤ every 30 days</a:t>
            </a:r>
          </a:p>
          <a:p>
            <a:pPr defTabSz="1609303">
              <a:spcBef>
                <a:spcPts val="2900"/>
              </a:spcBef>
              <a:defRPr sz="3168"/>
            </a:pPr>
            <a:endParaRPr/>
          </a:p>
          <a:p>
            <a:pPr defTabSz="1609303">
              <a:spcBef>
                <a:spcPts val="2900"/>
              </a:spcBef>
              <a:defRPr sz="3168"/>
            </a:pPr>
            <a:r>
              <a:t>One way we have been thinking about this:</a:t>
            </a:r>
          </a:p>
          <a:p>
            <a:pPr defTabSz="1609303">
              <a:spcBef>
                <a:spcPts val="2900"/>
              </a:spcBef>
              <a:defRPr sz="3168"/>
            </a:pPr>
            <a:r>
              <a:t>Daily is stricter, therefore daily wins and we merge the tasks.</a:t>
            </a:r>
          </a:p>
          <a:p>
            <a:pPr defTabSz="1609303">
              <a:spcBef>
                <a:spcPts val="2900"/>
              </a:spcBef>
              <a:defRPr sz="3168" b="1"/>
            </a:pPr>
            <a:r>
              <a:t>A better model may allow both requirements to continue to exist independently.</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Evidence” may mean much more than completing a task"/>
          <p:cNvSpPr txBox="1">
            <a:spLocks noGrp="1"/>
          </p:cNvSpPr>
          <p:nvPr>
            <p:ph type="title"/>
          </p:nvPr>
        </p:nvSpPr>
        <p:spPr>
          <a:prstGeom prst="rect">
            <a:avLst/>
          </a:prstGeom>
        </p:spPr>
        <p:txBody>
          <a:bodyPr/>
          <a:lstStyle>
            <a:lvl1pPr defTabSz="1853137">
              <a:defRPr sz="6460" spc="-129"/>
            </a:lvl1pPr>
          </a:lstStyle>
          <a:p>
            <a:r>
              <a:t>“Evidence” may mean much more than completing a task</a:t>
            </a:r>
          </a:p>
        </p:txBody>
      </p:sp>
      <p:sp>
        <p:nvSpPr>
          <p:cNvPr id="228" name="Slide Subtitle"/>
          <p:cNvSpPr txBox="1">
            <a:spLocks noGrp="1"/>
          </p:cNvSpPr>
          <p:nvPr>
            <p:ph type="body" idx="21"/>
          </p:nvPr>
        </p:nvSpPr>
        <p:spPr>
          <a:prstGeom prst="rect">
            <a:avLst/>
          </a:prstGeom>
        </p:spPr>
        <p:txBody>
          <a:bodyPr/>
          <a:lstStyle/>
          <a:p>
            <a:endParaRPr/>
          </a:p>
        </p:txBody>
      </p:sp>
      <p:sp>
        <p:nvSpPr>
          <p:cNvPr id="229" name="Some requirements are satisfied through an operational action:…"/>
          <p:cNvSpPr txBox="1"/>
          <p:nvPr/>
        </p:nvSpPr>
        <p:spPr>
          <a:xfrm>
            <a:off x="1224570" y="3700609"/>
            <a:ext cx="13170335" cy="88649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pPr defTabSz="1267936">
              <a:spcBef>
                <a:spcPts val="2300"/>
              </a:spcBef>
              <a:defRPr sz="2496"/>
            </a:pPr>
            <a:r>
              <a:t>Some requirements are satisfied through an operational action:</a:t>
            </a:r>
          </a:p>
          <a:p>
            <a:pPr defTabSz="1267936">
              <a:spcBef>
                <a:spcPts val="2300"/>
              </a:spcBef>
              <a:defRPr sz="2496"/>
            </a:pPr>
            <a:r>
              <a:t>Perform inspection</a:t>
            </a:r>
          </a:p>
          <a:p>
            <a:pPr defTabSz="1267936">
              <a:spcBef>
                <a:spcPts val="2300"/>
              </a:spcBef>
              <a:defRPr sz="2496"/>
            </a:pPr>
            <a:r>
              <a:t>→ execution record</a:t>
            </a:r>
          </a:p>
          <a:p>
            <a:pPr defTabSz="1267936">
              <a:spcBef>
                <a:spcPts val="2300"/>
              </a:spcBef>
              <a:defRPr sz="2496"/>
            </a:pPr>
            <a:endParaRPr/>
          </a:p>
          <a:p>
            <a:pPr defTabSz="1267936">
              <a:spcBef>
                <a:spcPts val="2300"/>
              </a:spcBef>
              <a:defRPr sz="2496"/>
            </a:pPr>
            <a:r>
              <a:t>Others might be satisfied by the existence of something:</a:t>
            </a:r>
          </a:p>
          <a:p>
            <a:pPr defTabSz="1267936">
              <a:spcBef>
                <a:spcPts val="2300"/>
              </a:spcBef>
              <a:defRPr sz="2496"/>
            </a:pPr>
            <a:r>
              <a:t>A procedure exists</a:t>
            </a:r>
          </a:p>
          <a:p>
            <a:pPr defTabSz="1267936">
              <a:spcBef>
                <a:spcPts val="2300"/>
              </a:spcBef>
              <a:defRPr sz="2496"/>
            </a:pPr>
            <a:r>
              <a:t>→ procedure/document</a:t>
            </a:r>
          </a:p>
          <a:p>
            <a:pPr defTabSz="1267936">
              <a:spcBef>
                <a:spcPts val="2300"/>
              </a:spcBef>
              <a:defRPr sz="2496"/>
            </a:pPr>
            <a:endParaRPr/>
          </a:p>
          <a:p>
            <a:pPr defTabSz="1267936">
              <a:spcBef>
                <a:spcPts val="2300"/>
              </a:spcBef>
              <a:defRPr sz="2496"/>
            </a:pPr>
            <a:r>
              <a:t>Others could potentially be evaluated from our knowledge of the site:</a:t>
            </a:r>
          </a:p>
          <a:p>
            <a:pPr defTabSz="1267936">
              <a:spcBef>
                <a:spcPts val="2300"/>
              </a:spcBef>
              <a:defRPr sz="2496"/>
            </a:pPr>
            <a:r>
              <a:t>Shackle is connected to X</a:t>
            </a:r>
          </a:p>
          <a:p>
            <a:pPr defTabSz="1267936">
              <a:spcBef>
                <a:spcPts val="2300"/>
              </a:spcBef>
              <a:defRPr sz="2496"/>
            </a:pPr>
            <a:r>
              <a:t>→ asset model already contains this relationship</a:t>
            </a:r>
          </a:p>
          <a:p>
            <a:pPr defTabSz="1267936">
              <a:spcBef>
                <a:spcPts val="2300"/>
              </a:spcBef>
              <a:defRPr sz="2496"/>
            </a:pPr>
            <a:endParaRPr/>
          </a:p>
          <a:p>
            <a:pPr defTabSz="1267936">
              <a:spcBef>
                <a:spcPts val="2300"/>
              </a:spcBef>
              <a:defRPr sz="2496"/>
            </a:pPr>
            <a:r>
              <a:t>And some may currently require explicit confirmation:</a:t>
            </a:r>
          </a:p>
          <a:p>
            <a:pPr defTabSz="1267936">
              <a:spcBef>
                <a:spcPts val="2300"/>
              </a:spcBef>
              <a:defRPr sz="2496"/>
            </a:pPr>
            <a:r>
              <a:t>User confirms X</a:t>
            </a:r>
          </a:p>
        </p:txBody>
      </p:sp>
      <p:sp>
        <p:nvSpPr>
          <p:cNvPr id="230" name="So we should probably think about:…"/>
          <p:cNvSpPr txBox="1"/>
          <p:nvPr/>
        </p:nvSpPr>
        <p:spPr>
          <a:xfrm>
            <a:off x="14515650" y="3700609"/>
            <a:ext cx="8692255" cy="88649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pPr defTabSz="1999437">
              <a:spcBef>
                <a:spcPts val="3600"/>
              </a:spcBef>
              <a:defRPr sz="2624"/>
            </a:pPr>
            <a:r>
              <a:t>So we should probably think about:</a:t>
            </a:r>
          </a:p>
          <a:p>
            <a:pPr defTabSz="1999437">
              <a:spcBef>
                <a:spcPts val="3600"/>
              </a:spcBef>
              <a:defRPr sz="3936" b="1"/>
            </a:pPr>
            <a:r>
              <a:t>What evidence is required to establish that a requirement is satisfied?</a:t>
            </a:r>
          </a:p>
          <a:p>
            <a:pPr defTabSz="1999437">
              <a:spcBef>
                <a:spcPts val="3600"/>
              </a:spcBef>
              <a:defRPr sz="3936"/>
            </a:pPr>
            <a:r>
              <a:t>Rather than assuming every requirement becomes a recurring checklist task.</a:t>
            </a:r>
          </a:p>
          <a:p>
            <a:pPr defTabSz="1999437">
              <a:spcBef>
                <a:spcPts val="3600"/>
              </a:spcBef>
              <a:defRPr sz="3936"/>
            </a:pPr>
            <a:r>
              <a:t>This could eventually reduce the amount of unnecessary work we ask users to do.</a:t>
            </a:r>
          </a:p>
          <a:p>
            <a:pPr defTabSz="1999437">
              <a:spcBef>
                <a:spcPts val="3600"/>
              </a:spcBef>
              <a:defRPr sz="3936"/>
            </a:pPr>
            <a:endParaRP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 name="The role of the ontology"/>
          <p:cNvSpPr txBox="1">
            <a:spLocks noGrp="1"/>
          </p:cNvSpPr>
          <p:nvPr>
            <p:ph type="title"/>
          </p:nvPr>
        </p:nvSpPr>
        <p:spPr>
          <a:prstGeom prst="rect">
            <a:avLst/>
          </a:prstGeom>
        </p:spPr>
        <p:txBody>
          <a:bodyPr/>
          <a:lstStyle/>
          <a:p>
            <a:r>
              <a:t>The role of the ontology</a:t>
            </a:r>
          </a:p>
        </p:txBody>
      </p:sp>
      <p:sp>
        <p:nvSpPr>
          <p:cNvPr id="233" name="Slide Subtitle"/>
          <p:cNvSpPr txBox="1">
            <a:spLocks noGrp="1"/>
          </p:cNvSpPr>
          <p:nvPr>
            <p:ph type="body" idx="21"/>
          </p:nvPr>
        </p:nvSpPr>
        <p:spPr>
          <a:prstGeom prst="rect">
            <a:avLst/>
          </a:prstGeom>
        </p:spPr>
        <p:txBody>
          <a:bodyPr/>
          <a:lstStyle/>
          <a:p>
            <a:endParaRPr/>
          </a:p>
        </p:txBody>
      </p:sp>
      <p:sp>
        <p:nvSpPr>
          <p:cNvPr id="234" name="The strongest long-term hypothesis we have is that plain language should remain provenance, while reasoning happens against a more formal representation.…"/>
          <p:cNvSpPr txBox="1"/>
          <p:nvPr/>
        </p:nvSpPr>
        <p:spPr>
          <a:xfrm>
            <a:off x="1224570" y="3700609"/>
            <a:ext cx="11784175" cy="88649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pPr defTabSz="1487386">
              <a:spcBef>
                <a:spcPts val="2700"/>
              </a:spcBef>
              <a:defRPr sz="2928"/>
            </a:pPr>
            <a:r>
              <a:t>The strongest long-term hypothesis we have is that plain language should remain provenance, while reasoning happens against a more formal representation.</a:t>
            </a:r>
          </a:p>
          <a:p>
            <a:pPr defTabSz="1487386">
              <a:spcBef>
                <a:spcPts val="2700"/>
              </a:spcBef>
              <a:defRPr sz="2928"/>
            </a:pPr>
            <a:r>
              <a:t>Plain text:</a:t>
            </a:r>
          </a:p>
          <a:p>
            <a:pPr defTabSz="1487386">
              <a:spcBef>
                <a:spcPts val="2700"/>
              </a:spcBef>
              <a:defRPr sz="2928"/>
            </a:pPr>
            <a:r>
              <a:t>“Dead fish must be removed.”</a:t>
            </a:r>
          </a:p>
          <a:p>
            <a:pPr defTabSz="1487386">
              <a:spcBef>
                <a:spcPts val="2700"/>
              </a:spcBef>
              <a:defRPr sz="2928"/>
            </a:pPr>
            <a:r>
              <a:t>and:</a:t>
            </a:r>
          </a:p>
          <a:p>
            <a:pPr defTabSz="1487386">
              <a:spcBef>
                <a:spcPts val="2700"/>
              </a:spcBef>
              <a:defRPr sz="2928"/>
            </a:pPr>
            <a:r>
              <a:t>“Remove any dead fish.”</a:t>
            </a:r>
          </a:p>
          <a:p>
            <a:pPr defTabSz="1487386">
              <a:spcBef>
                <a:spcPts val="2700"/>
              </a:spcBef>
              <a:defRPr sz="2928"/>
            </a:pPr>
            <a:endParaRPr/>
          </a:p>
          <a:p>
            <a:pPr defTabSz="1487386">
              <a:spcBef>
                <a:spcPts val="2700"/>
              </a:spcBef>
              <a:defRPr sz="2928"/>
            </a:pPr>
            <a:r>
              <a:t>can vary indefinitely.</a:t>
            </a:r>
          </a:p>
          <a:p>
            <a:pPr defTabSz="1487386">
              <a:spcBef>
                <a:spcPts val="2700"/>
              </a:spcBef>
              <a:defRPr sz="2928"/>
            </a:pPr>
            <a:endParaRPr/>
          </a:p>
          <a:p>
            <a:pPr defTabSz="1487386">
              <a:spcBef>
                <a:spcPts val="2700"/>
              </a:spcBef>
              <a:defRPr sz="2928"/>
            </a:pPr>
            <a:r>
              <a:t>But both might resolve to something conceptually like:</a:t>
            </a:r>
          </a:p>
          <a:p>
            <a:pPr defTabSz="1487386">
              <a:spcBef>
                <a:spcPts val="2700"/>
              </a:spcBef>
              <a:defRPr sz="2928"/>
            </a:pPr>
            <a:r>
              <a:rPr b="1"/>
              <a:t>ACTION</a:t>
            </a:r>
            <a:r>
              <a:t>: REMOVE</a:t>
            </a:r>
          </a:p>
          <a:p>
            <a:pPr defTabSz="1487386">
              <a:spcBef>
                <a:spcPts val="2700"/>
              </a:spcBef>
              <a:defRPr sz="2928"/>
            </a:pPr>
            <a:r>
              <a:rPr b="1"/>
              <a:t>OBJECT</a:t>
            </a:r>
            <a:r>
              <a:t>: DEAD_FISH</a:t>
            </a:r>
          </a:p>
        </p:txBody>
      </p:sp>
      <p:sp>
        <p:nvSpPr>
          <p:cNvPr id="235" name="With a controlled vocabulary, those concepts have stable meanings.…"/>
          <p:cNvSpPr txBox="1"/>
          <p:nvPr/>
        </p:nvSpPr>
        <p:spPr>
          <a:xfrm>
            <a:off x="14515650" y="3700609"/>
            <a:ext cx="8692255" cy="88649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pPr defTabSz="1926287">
              <a:spcBef>
                <a:spcPts val="3500"/>
              </a:spcBef>
              <a:defRPr sz="3792"/>
            </a:pPr>
            <a:r>
              <a:t>With a controlled vocabulary, those concepts have stable meanings.</a:t>
            </a:r>
          </a:p>
          <a:p>
            <a:pPr defTabSz="1926287">
              <a:spcBef>
                <a:spcPts val="3500"/>
              </a:spcBef>
              <a:defRPr sz="3792"/>
            </a:pPr>
            <a:r>
              <a:t>The ontology therefore potentially gives us a common language in which requirements from different sources can be compared.</a:t>
            </a:r>
          </a:p>
          <a:p>
            <a:pPr defTabSz="1926287">
              <a:spcBef>
                <a:spcPts val="3500"/>
              </a:spcBef>
              <a:defRPr sz="3792"/>
            </a:pPr>
            <a:r>
              <a:t>This doesn't mean everything needs to be manually modelled.</a:t>
            </a:r>
          </a:p>
          <a:p>
            <a:pPr defTabSz="1926287">
              <a:spcBef>
                <a:spcPts val="3500"/>
              </a:spcBef>
              <a:defRPr sz="3792"/>
            </a:pPr>
            <a:r>
              <a:t>We might also use LLMs to help translate requirements into the constrained representation, identify missing vocabulary and propose mappings, with humans/SMEs validating the result.</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A possible experiment?"/>
          <p:cNvSpPr txBox="1">
            <a:spLocks noGrp="1"/>
          </p:cNvSpPr>
          <p:nvPr>
            <p:ph type="title"/>
          </p:nvPr>
        </p:nvSpPr>
        <p:spPr>
          <a:prstGeom prst="rect">
            <a:avLst/>
          </a:prstGeom>
        </p:spPr>
        <p:txBody>
          <a:bodyPr/>
          <a:lstStyle/>
          <a:p>
            <a:r>
              <a:t>A possible experiment?</a:t>
            </a:r>
          </a:p>
        </p:txBody>
      </p:sp>
      <p:sp>
        <p:nvSpPr>
          <p:cNvPr id="242" name="Slide Subtitle"/>
          <p:cNvSpPr txBox="1">
            <a:spLocks noGrp="1"/>
          </p:cNvSpPr>
          <p:nvPr>
            <p:ph type="body" idx="21"/>
          </p:nvPr>
        </p:nvSpPr>
        <p:spPr>
          <a:prstGeom prst="rect">
            <a:avLst/>
          </a:prstGeom>
        </p:spPr>
        <p:txBody>
          <a:bodyPr/>
          <a:lstStyle/>
          <a:p>
            <a:endParaRPr/>
          </a:p>
        </p:txBody>
      </p:sp>
      <p:sp>
        <p:nvSpPr>
          <p:cNvPr id="243" name="Rather than trying to answer all 15 questions theoretically, I think the team should take one real site's requirement set and attempt to model it end-to-end.…"/>
          <p:cNvSpPr txBox="1">
            <a:spLocks noGrp="1"/>
          </p:cNvSpPr>
          <p:nvPr>
            <p:ph type="body" sz="half" idx="1"/>
          </p:nvPr>
        </p:nvSpPr>
        <p:spPr>
          <a:xfrm>
            <a:off x="1206500" y="4248504"/>
            <a:ext cx="9491609" cy="8640961"/>
          </a:xfrm>
          <a:prstGeom prst="rect">
            <a:avLst/>
          </a:prstGeom>
        </p:spPr>
        <p:txBody>
          <a:bodyPr>
            <a:normAutofit lnSpcReduction="10000"/>
          </a:bodyPr>
          <a:lstStyle/>
          <a:p>
            <a:pPr marL="0" indent="0" defTabSz="1170402">
              <a:spcBef>
                <a:spcPts val="2100"/>
              </a:spcBef>
              <a:buSzTx/>
              <a:buNone/>
              <a:defRPr sz="2304">
                <a:latin typeface="Arial"/>
                <a:ea typeface="Arial"/>
                <a:cs typeface="Arial"/>
                <a:sym typeface="Arial"/>
              </a:defRPr>
            </a:pPr>
            <a:r>
              <a:rPr dirty="0"/>
              <a:t>Rather than trying to answer all 15 questions theoretically, I think the team should take one real site's requirement set and attempt to model it end-to-end.</a:t>
            </a:r>
          </a:p>
          <a:p>
            <a:pPr marL="0" indent="0" defTabSz="1170402">
              <a:spcBef>
                <a:spcPts val="2100"/>
              </a:spcBef>
              <a:buSzTx/>
              <a:buNone/>
              <a:defRPr sz="2304">
                <a:latin typeface="Arial"/>
                <a:ea typeface="Arial"/>
                <a:cs typeface="Arial"/>
                <a:sym typeface="Arial"/>
              </a:defRPr>
            </a:pPr>
            <a:r>
              <a:rPr dirty="0"/>
              <a:t>Not thousands of requirements. Not a production system.</a:t>
            </a:r>
          </a:p>
          <a:p>
            <a:pPr marL="0" indent="0" defTabSz="1170402">
              <a:spcBef>
                <a:spcPts val="2100"/>
              </a:spcBef>
              <a:buSzTx/>
              <a:buNone/>
              <a:defRPr sz="2304">
                <a:latin typeface="Arial"/>
                <a:ea typeface="Arial"/>
                <a:cs typeface="Arial"/>
                <a:sym typeface="Arial"/>
              </a:defRPr>
            </a:pPr>
            <a:r>
              <a:rPr dirty="0"/>
              <a:t>Take perhaps 50–100 representative requirements containing simple actions, compound requirements, different frequencies, document revisions, cross-framework overlap and a few difficult edge cases.</a:t>
            </a:r>
          </a:p>
          <a:p>
            <a:pPr marL="0" indent="0" defTabSz="1170402">
              <a:spcBef>
                <a:spcPts val="2100"/>
              </a:spcBef>
              <a:buSzTx/>
              <a:buNone/>
              <a:defRPr sz="2304">
                <a:latin typeface="Arial"/>
                <a:ea typeface="Arial"/>
                <a:cs typeface="Arial"/>
                <a:sym typeface="Arial"/>
              </a:defRPr>
            </a:pPr>
            <a:r>
              <a:rPr dirty="0"/>
              <a:t>Then attempt:</a:t>
            </a:r>
            <a:endParaRPr b="1" dirty="0"/>
          </a:p>
          <a:p>
            <a:pPr marL="0" indent="0" defTabSz="1170402">
              <a:spcBef>
                <a:spcPts val="2100"/>
              </a:spcBef>
              <a:buSzTx/>
              <a:buNone/>
              <a:defRPr sz="2448">
                <a:latin typeface="Arial"/>
                <a:ea typeface="Arial"/>
                <a:cs typeface="Arial"/>
                <a:sym typeface="Arial"/>
              </a:defRPr>
            </a:pPr>
            <a:r>
              <a:rPr b="1" dirty="0"/>
              <a:t>SOURCE</a:t>
            </a:r>
            <a:br>
              <a:rPr b="1" dirty="0"/>
            </a:br>
            <a:r>
              <a:rPr b="1" dirty="0"/>
              <a:t>↓</a:t>
            </a:r>
            <a:br>
              <a:rPr b="1" dirty="0"/>
            </a:br>
            <a:r>
              <a:rPr b="1" dirty="0"/>
              <a:t>CURRENT EXTRACTION</a:t>
            </a:r>
            <a:br>
              <a:rPr b="1" dirty="0"/>
            </a:br>
            <a:r>
              <a:rPr b="1" dirty="0"/>
              <a:t>↓</a:t>
            </a:r>
            <a:br>
              <a:rPr b="1" dirty="0"/>
            </a:br>
            <a:r>
              <a:rPr b="1" dirty="0"/>
              <a:t>SEMANTIC DECOMPOSITION</a:t>
            </a:r>
            <a:br>
              <a:rPr b="1" dirty="0"/>
            </a:br>
            <a:r>
              <a:rPr b="1" dirty="0"/>
              <a:t>↓</a:t>
            </a:r>
            <a:br>
              <a:rPr b="1" dirty="0"/>
            </a:br>
            <a:r>
              <a:rPr b="1" dirty="0"/>
              <a:t>CONTROLLED VOCABULARY</a:t>
            </a:r>
            <a:br>
              <a:rPr b="1" dirty="0"/>
            </a:br>
            <a:r>
              <a:rPr b="1" dirty="0"/>
              <a:t>↓</a:t>
            </a:r>
            <a:br>
              <a:rPr b="1" dirty="0"/>
            </a:br>
            <a:r>
              <a:rPr b="1" dirty="0"/>
              <a:t>RELATIONSHIPS</a:t>
            </a:r>
            <a:br>
              <a:rPr b="1" dirty="0"/>
            </a:br>
            <a:r>
              <a:rPr b="1" dirty="0"/>
              <a:t>↓</a:t>
            </a:r>
            <a:br>
              <a:rPr b="1" dirty="0"/>
            </a:br>
            <a:r>
              <a:rPr b="1" dirty="0"/>
              <a:t>APPLICABILITY</a:t>
            </a:r>
            <a:br>
              <a:rPr b="1" dirty="0"/>
            </a:br>
            <a:r>
              <a:rPr b="1" dirty="0"/>
              <a:t>↓</a:t>
            </a:r>
            <a:br>
              <a:rPr b="1" dirty="0"/>
            </a:br>
            <a:r>
              <a:rPr b="1" dirty="0"/>
              <a:t>SATISFACTION / EVIDENCE</a:t>
            </a:r>
            <a:br>
              <a:rPr b="1" dirty="0"/>
            </a:br>
            <a:r>
              <a:rPr b="1" dirty="0"/>
              <a:t>↓</a:t>
            </a:r>
            <a:br>
              <a:rPr b="1" dirty="0"/>
            </a:br>
            <a:r>
              <a:rPr b="1" dirty="0"/>
              <a:t>USER-FACING ACTION</a:t>
            </a:r>
          </a:p>
        </p:txBody>
      </p:sp>
      <p:sp>
        <p:nvSpPr>
          <p:cNvPr id="244" name="At every stage record:…"/>
          <p:cNvSpPr txBox="1"/>
          <p:nvPr/>
        </p:nvSpPr>
        <p:spPr>
          <a:xfrm>
            <a:off x="11561333" y="4248504"/>
            <a:ext cx="11562531" cy="86409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lnSpcReduction="10000"/>
          </a:bodyPr>
          <a:lstStyle/>
          <a:p>
            <a:pPr defTabSz="1487386">
              <a:spcBef>
                <a:spcPts val="2700"/>
              </a:spcBef>
              <a:defRPr sz="2379">
                <a:latin typeface="Arial"/>
                <a:ea typeface="Arial"/>
                <a:cs typeface="Arial"/>
                <a:sym typeface="Arial"/>
              </a:defRPr>
            </a:pPr>
            <a:r>
              <a:t>At every stage record:</a:t>
            </a:r>
          </a:p>
          <a:p>
            <a:pPr defTabSz="1487386">
              <a:spcBef>
                <a:spcPts val="2700"/>
              </a:spcBef>
              <a:defRPr sz="2928" b="1">
                <a:latin typeface="Arial"/>
                <a:ea typeface="Arial"/>
                <a:cs typeface="Arial"/>
                <a:sym typeface="Arial"/>
              </a:defRPr>
            </a:pPr>
            <a:r>
              <a:t>What could we infer automatically?</a:t>
            </a:r>
          </a:p>
          <a:p>
            <a:pPr defTabSz="1487386">
              <a:spcBef>
                <a:spcPts val="2700"/>
              </a:spcBef>
              <a:defRPr sz="2928" b="1">
                <a:latin typeface="Arial"/>
                <a:ea typeface="Arial"/>
                <a:cs typeface="Arial"/>
                <a:sym typeface="Arial"/>
              </a:defRPr>
            </a:pPr>
            <a:r>
              <a:t>What required an SME decision?</a:t>
            </a:r>
          </a:p>
          <a:p>
            <a:pPr defTabSz="1487386">
              <a:spcBef>
                <a:spcPts val="2700"/>
              </a:spcBef>
              <a:defRPr sz="2928" b="1">
                <a:latin typeface="Arial"/>
                <a:ea typeface="Arial"/>
                <a:cs typeface="Arial"/>
                <a:sym typeface="Arial"/>
              </a:defRPr>
            </a:pPr>
            <a:r>
              <a:t>What couldn't the model express?</a:t>
            </a:r>
          </a:p>
          <a:p>
            <a:pPr defTabSz="1487386">
              <a:spcBef>
                <a:spcPts val="2700"/>
              </a:spcBef>
              <a:defRPr sz="2928" b="1">
                <a:latin typeface="Arial"/>
                <a:ea typeface="Arial"/>
                <a:cs typeface="Arial"/>
                <a:sym typeface="Arial"/>
              </a:defRPr>
            </a:pPr>
            <a:r>
              <a:t>What new vocabulary was required?</a:t>
            </a:r>
          </a:p>
          <a:p>
            <a:pPr defTabSz="1487386">
              <a:spcBef>
                <a:spcPts val="2700"/>
              </a:spcBef>
              <a:defRPr sz="2928" b="1">
                <a:latin typeface="Arial"/>
                <a:ea typeface="Arial"/>
                <a:cs typeface="Arial"/>
                <a:sym typeface="Arial"/>
              </a:defRPr>
            </a:pPr>
            <a:r>
              <a:t>Where did two requirements unexpectedly overlap?</a:t>
            </a:r>
          </a:p>
          <a:p>
            <a:pPr defTabSz="1487386">
              <a:spcBef>
                <a:spcPts val="2700"/>
              </a:spcBef>
              <a:defRPr sz="2928" b="1">
                <a:latin typeface="Arial"/>
                <a:ea typeface="Arial"/>
                <a:cs typeface="Arial"/>
                <a:sym typeface="Arial"/>
              </a:defRPr>
            </a:pPr>
            <a:r>
              <a:t>Where did apparently similar requirements turn out to be different?</a:t>
            </a:r>
          </a:p>
          <a:p>
            <a:pPr defTabSz="1487386">
              <a:spcBef>
                <a:spcPts val="2700"/>
              </a:spcBef>
              <a:defRPr sz="2928" b="1">
                <a:latin typeface="Arial"/>
                <a:ea typeface="Arial"/>
                <a:cs typeface="Arial"/>
                <a:sym typeface="Arial"/>
              </a:defRPr>
            </a:pPr>
            <a:r>
              <a:t>Could we determine satisfaction without asking the user to do something?</a:t>
            </a:r>
          </a:p>
          <a:p>
            <a:pPr defTabSz="1487386">
              <a:spcBef>
                <a:spcPts val="2700"/>
              </a:spcBef>
              <a:defRPr sz="2928" b="1">
                <a:latin typeface="Arial"/>
                <a:ea typeface="Arial"/>
                <a:cs typeface="Arial"/>
                <a:sym typeface="Arial"/>
              </a:defRPr>
            </a:pPr>
            <a:endParaRPr/>
          </a:p>
          <a:p>
            <a:pPr defTabSz="1487386">
              <a:spcBef>
                <a:spcPts val="2700"/>
              </a:spcBef>
              <a:defRPr sz="2928">
                <a:latin typeface="Arial"/>
                <a:ea typeface="Arial"/>
                <a:cs typeface="Arial"/>
                <a:sym typeface="Arial"/>
              </a:defRPr>
            </a:pPr>
            <a:r>
              <a:t>The output of that experiment shouldn't primarily be software.</a:t>
            </a:r>
          </a:p>
          <a:p>
            <a:pPr defTabSz="1487386">
              <a:spcBef>
                <a:spcPts val="2700"/>
              </a:spcBef>
              <a:defRPr sz="2928">
                <a:latin typeface="Arial"/>
                <a:ea typeface="Arial"/>
                <a:cs typeface="Arial"/>
                <a:sym typeface="Arial"/>
              </a:defRPr>
            </a:pPr>
            <a:r>
              <a:t>It should be our first opinionated model of how a requirement works.</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 name="Questions we need to answer?"/>
          <p:cNvSpPr txBox="1">
            <a:spLocks noGrp="1"/>
          </p:cNvSpPr>
          <p:nvPr>
            <p:ph type="title"/>
          </p:nvPr>
        </p:nvSpPr>
        <p:spPr>
          <a:prstGeom prst="rect">
            <a:avLst/>
          </a:prstGeom>
        </p:spPr>
        <p:txBody>
          <a:bodyPr/>
          <a:lstStyle/>
          <a:p>
            <a:r>
              <a:t>Questions we need to answer?</a:t>
            </a:r>
          </a:p>
        </p:txBody>
      </p:sp>
      <p:sp>
        <p:nvSpPr>
          <p:cNvPr id="238" name="Slide Subtitle"/>
          <p:cNvSpPr txBox="1">
            <a:spLocks noGrp="1"/>
          </p:cNvSpPr>
          <p:nvPr>
            <p:ph type="body" idx="21"/>
          </p:nvPr>
        </p:nvSpPr>
        <p:spPr>
          <a:prstGeom prst="rect">
            <a:avLst/>
          </a:prstGeom>
        </p:spPr>
        <p:txBody>
          <a:bodyPr/>
          <a:lstStyle/>
          <a:p>
            <a:endParaRPr/>
          </a:p>
        </p:txBody>
      </p:sp>
      <p:sp>
        <p:nvSpPr>
          <p:cNvPr id="239" name="1. What is a requirement in our model?  What are its minimum constituent parts? Is scope + condition + demand sufficient, and where do action, object, frequency, method, evidence etc. belong?…"/>
          <p:cNvSpPr txBox="1">
            <a:spLocks noGrp="1"/>
          </p:cNvSpPr>
          <p:nvPr>
            <p:ph type="body" idx="1"/>
          </p:nvPr>
        </p:nvSpPr>
        <p:spPr>
          <a:prstGeom prst="rect">
            <a:avLst/>
          </a:prstGeom>
        </p:spPr>
        <p:txBody>
          <a:bodyPr numCol="2" spcCol="1098550"/>
          <a:lstStyle/>
          <a:p>
            <a:pPr marL="0" indent="0" defTabSz="999718">
              <a:spcBef>
                <a:spcPts val="1800"/>
              </a:spcBef>
              <a:buSzTx/>
              <a:buNone/>
              <a:defRPr sz="1968">
                <a:latin typeface="Arial"/>
                <a:ea typeface="Arial"/>
                <a:cs typeface="Arial"/>
                <a:sym typeface="Arial"/>
              </a:defRPr>
            </a:pPr>
            <a:r>
              <a:rPr b="1"/>
              <a:t>1. What is a requirement in our model?</a:t>
            </a:r>
            <a:r>
              <a:t> </a:t>
            </a:r>
            <a:br/>
            <a:r>
              <a:t>What are its minimum constituent parts? Is scope + condition + demand sufficient, and where do action, object, frequency, method, evidence etc. belong?</a:t>
            </a:r>
          </a:p>
          <a:p>
            <a:pPr marL="0" indent="0" defTabSz="999718">
              <a:spcBef>
                <a:spcPts val="1800"/>
              </a:spcBef>
              <a:buSzTx/>
              <a:buNone/>
              <a:defRPr sz="1968">
                <a:latin typeface="Arial"/>
                <a:ea typeface="Arial"/>
                <a:cs typeface="Arial"/>
                <a:sym typeface="Arial"/>
              </a:defRPr>
            </a:pPr>
            <a:r>
              <a:rPr b="1"/>
              <a:t>2. What is an operational action? </a:t>
            </a:r>
            <a:br>
              <a:rPr b="1"/>
            </a:br>
            <a:r>
              <a:t>What makes “check for dead fish” the same action across different wording, sources and versions?</a:t>
            </a:r>
          </a:p>
          <a:p>
            <a:pPr marL="0" indent="0" defTabSz="999718">
              <a:spcBef>
                <a:spcPts val="1800"/>
              </a:spcBef>
              <a:buSzTx/>
              <a:buNone/>
              <a:defRPr sz="1968">
                <a:latin typeface="Arial"/>
                <a:ea typeface="Arial"/>
                <a:cs typeface="Arial"/>
                <a:sym typeface="Arial"/>
              </a:defRPr>
            </a:pPr>
            <a:r>
              <a:rPr b="1"/>
              <a:t>3. How atomic should actions be?</a:t>
            </a:r>
            <a:r>
              <a:t> </a:t>
            </a:r>
            <a:br/>
            <a:r>
              <a:t>When should “check and remove dead fish” become two actions rather than one procedure?</a:t>
            </a:r>
          </a:p>
          <a:p>
            <a:pPr marL="0" indent="0" defTabSz="999718">
              <a:spcBef>
                <a:spcPts val="1800"/>
              </a:spcBef>
              <a:buSzTx/>
              <a:buNone/>
              <a:defRPr sz="1968">
                <a:latin typeface="Arial"/>
                <a:ea typeface="Arial"/>
                <a:cs typeface="Arial"/>
                <a:sym typeface="Arial"/>
              </a:defRPr>
            </a:pPr>
            <a:r>
              <a:rPr b="1"/>
              <a:t>4. What does “same” mean?</a:t>
            </a:r>
            <a:r>
              <a:t> </a:t>
            </a:r>
            <a:br/>
            <a:r>
              <a:t>We need explicit relationships for equivalence, overlap, implication, relatedness and evidence coverage rather than one generic “same task” relationship.</a:t>
            </a:r>
          </a:p>
          <a:p>
            <a:pPr marL="0" indent="0" defTabSz="999718">
              <a:spcBef>
                <a:spcPts val="1800"/>
              </a:spcBef>
              <a:buSzTx/>
              <a:buNone/>
              <a:defRPr sz="1968">
                <a:latin typeface="Arial"/>
                <a:ea typeface="Arial"/>
                <a:cs typeface="Arial"/>
                <a:sym typeface="Arial"/>
              </a:defRPr>
            </a:pPr>
            <a:r>
              <a:rPr b="1"/>
              <a:t>5. Do we need canonical task IDs?</a:t>
            </a:r>
            <a:r>
              <a:t> </a:t>
            </a:r>
            <a:br/>
            <a:r>
              <a:t>Or can canonical identity be derived from ontology concepts/logical representations? What requires persistent identity for product/history purposes even if semantic equivalence can be inferred?</a:t>
            </a:r>
          </a:p>
          <a:p>
            <a:pPr marL="0" indent="0" defTabSz="999718">
              <a:spcBef>
                <a:spcPts val="1800"/>
              </a:spcBef>
              <a:buSzTx/>
              <a:buNone/>
              <a:defRPr sz="1968">
                <a:latin typeface="Arial"/>
                <a:ea typeface="Arial"/>
                <a:cs typeface="Arial"/>
                <a:sym typeface="Arial"/>
              </a:defRPr>
            </a:pPr>
            <a:r>
              <a:rPr b="1"/>
              <a:t>6. How should versioning work?</a:t>
            </a:r>
            <a:r>
              <a:t> </a:t>
            </a:r>
            <a:br/>
            <a:r>
              <a:t>What is a changed source, changed requirement, changed constraint and genuinely new requirement?</a:t>
            </a:r>
          </a:p>
          <a:p>
            <a:pPr marL="0" indent="0" defTabSz="999718">
              <a:spcBef>
                <a:spcPts val="1800"/>
              </a:spcBef>
              <a:buSzTx/>
              <a:buNone/>
              <a:defRPr sz="1968">
                <a:latin typeface="Arial"/>
                <a:ea typeface="Arial"/>
                <a:cs typeface="Arial"/>
                <a:sym typeface="Arial"/>
              </a:defRPr>
            </a:pPr>
            <a:r>
              <a:rPr b="1"/>
              <a:t>7. How do we represent applicability?</a:t>
            </a:r>
            <a:r>
              <a:t> </a:t>
            </a:r>
            <a:br/>
            <a:r>
              <a:t>Document version alone is insufficient because different equipment/sites may legitimately operate under different requirements.</a:t>
            </a:r>
          </a:p>
          <a:p>
            <a:pPr marL="0" indent="0" defTabSz="999718">
              <a:spcBef>
                <a:spcPts val="1800"/>
              </a:spcBef>
              <a:buSzTx/>
              <a:buNone/>
              <a:defRPr sz="1968">
                <a:latin typeface="Arial"/>
                <a:ea typeface="Arial"/>
                <a:cs typeface="Arial"/>
                <a:sym typeface="Arial"/>
              </a:defRPr>
            </a:pPr>
            <a:r>
              <a:rPr b="1"/>
              <a:t>8. How do we determine satisfaction?</a:t>
            </a:r>
            <a:r>
              <a:t> </a:t>
            </a:r>
            <a:br/>
            <a:r>
              <a:t>What constitutes evidence, and can satisfaction sometimes be inferred automatically from other facts?</a:t>
            </a:r>
          </a:p>
          <a:p>
            <a:pPr marL="0" indent="0" defTabSz="999718">
              <a:spcBef>
                <a:spcPts val="1800"/>
              </a:spcBef>
              <a:buSzTx/>
              <a:buNone/>
              <a:defRPr sz="1968">
                <a:latin typeface="Arial"/>
                <a:ea typeface="Arial"/>
                <a:cs typeface="Arial"/>
                <a:sym typeface="Arial"/>
              </a:defRPr>
            </a:pPr>
            <a:r>
              <a:rPr b="1"/>
              <a:t>9. How do requirements imply one another?</a:t>
            </a:r>
            <a:r>
              <a:t> </a:t>
            </a:r>
            <a:br/>
            <a:r>
              <a:t>Can the model formally infer that satisfying ≤1 day satisfies ≤30 days without us manually creating that relationship?</a:t>
            </a:r>
          </a:p>
          <a:p>
            <a:pPr marL="0" indent="0" defTabSz="999718">
              <a:spcBef>
                <a:spcPts val="1800"/>
              </a:spcBef>
              <a:buSzTx/>
              <a:buNone/>
              <a:defRPr sz="1968">
                <a:latin typeface="Arial"/>
                <a:ea typeface="Arial"/>
                <a:cs typeface="Arial"/>
                <a:sym typeface="Arial"/>
              </a:defRPr>
            </a:pPr>
            <a:r>
              <a:rPr b="1"/>
              <a:t>10. What remains provenance? </a:t>
            </a:r>
            <a:br>
              <a:rPr b="1"/>
            </a:br>
            <a:r>
              <a:t>Which existing fields describe where a requirement came from rather than what the requirement means?</a:t>
            </a:r>
          </a:p>
          <a:p>
            <a:pPr marL="0" indent="0" defTabSz="999718">
              <a:spcBef>
                <a:spcPts val="1800"/>
              </a:spcBef>
              <a:buSzTx/>
              <a:buNone/>
              <a:defRPr sz="1968">
                <a:latin typeface="Arial"/>
                <a:ea typeface="Arial"/>
                <a:cs typeface="Arial"/>
                <a:sym typeface="Arial"/>
              </a:defRPr>
            </a:pPr>
            <a:r>
              <a:rPr b="1"/>
              <a:t>11. Where should reasoning happen? </a:t>
            </a:r>
            <a:br>
              <a:rPr b="1"/>
            </a:br>
            <a:r>
              <a:t>What belongs in the relational/tabular extraction model versus graph/ontology versus application logic?</a:t>
            </a:r>
          </a:p>
          <a:p>
            <a:pPr marL="0" indent="0" defTabSz="999718">
              <a:spcBef>
                <a:spcPts val="1800"/>
              </a:spcBef>
              <a:buSzTx/>
              <a:buNone/>
              <a:defRPr sz="1968">
                <a:latin typeface="Arial"/>
                <a:ea typeface="Arial"/>
                <a:cs typeface="Arial"/>
                <a:sym typeface="Arial"/>
              </a:defRPr>
            </a:pPr>
            <a:r>
              <a:rPr b="1"/>
              <a:t>12. What should AI do?</a:t>
            </a:r>
            <a:r>
              <a:t> </a:t>
            </a:r>
            <a:br/>
            <a:r>
              <a:t>Candidate matching? Semantic decomposition? Vocabulary generation? Ontology mapping? Equivalence judgement? Where is deterministic reasoning preferable?</a:t>
            </a:r>
          </a:p>
          <a:p>
            <a:pPr marL="0" indent="0" defTabSz="999718">
              <a:spcBef>
                <a:spcPts val="1800"/>
              </a:spcBef>
              <a:buSzTx/>
              <a:buNone/>
              <a:defRPr sz="1968">
                <a:latin typeface="Arial"/>
                <a:ea typeface="Arial"/>
                <a:cs typeface="Arial"/>
                <a:sym typeface="Arial"/>
              </a:defRPr>
            </a:pPr>
            <a:r>
              <a:rPr b="1"/>
              <a:t>13. Where do we require human/SME approval?</a:t>
            </a:r>
            <a:r>
              <a:t> </a:t>
            </a:r>
            <a:br/>
            <a:r>
              <a:t>And crucially, can those decisions become reusable knowledge so the SME doesn't repeatedly make the same judgement?</a:t>
            </a:r>
          </a:p>
          <a:p>
            <a:pPr marL="0" indent="0" defTabSz="999718">
              <a:spcBef>
                <a:spcPts val="1800"/>
              </a:spcBef>
              <a:buSzTx/>
              <a:buNone/>
              <a:defRPr sz="1968">
                <a:latin typeface="Arial"/>
                <a:ea typeface="Arial"/>
                <a:cs typeface="Arial"/>
                <a:sym typeface="Arial"/>
              </a:defRPr>
            </a:pPr>
            <a:r>
              <a:rPr b="1"/>
              <a:t>14. How do we avoid over-modelling?</a:t>
            </a:r>
            <a:r>
              <a:t> </a:t>
            </a:r>
            <a:br/>
            <a:r>
              <a:t>What is the minimum semantic depth that creates meaningful product value?</a:t>
            </a:r>
          </a:p>
          <a:p>
            <a:pPr marL="0" indent="0" defTabSz="999718">
              <a:spcBef>
                <a:spcPts val="1800"/>
              </a:spcBef>
              <a:buSzTx/>
              <a:buNone/>
              <a:defRPr sz="1968">
                <a:latin typeface="Arial"/>
                <a:ea typeface="Arial"/>
                <a:cs typeface="Arial"/>
                <a:sym typeface="Arial"/>
              </a:defRPr>
            </a:pPr>
            <a:r>
              <a:rPr b="1"/>
              <a:t>15. Can this scale operationally?</a:t>
            </a:r>
            <a:r>
              <a:t> </a:t>
            </a:r>
            <a:br/>
            <a:r>
              <a:t>Every new customer may introduce multiple new manuals and requirements. What parts of modelling can be automated or reused?</a:t>
            </a:r>
          </a:p>
          <a:p>
            <a:pPr marL="0" indent="0" defTabSz="999718">
              <a:spcBef>
                <a:spcPts val="1800"/>
              </a:spcBef>
              <a:buSzTx/>
              <a:buNone/>
              <a:defRPr sz="1968">
                <a:latin typeface="Arial"/>
                <a:ea typeface="Arial"/>
                <a:cs typeface="Arial"/>
                <a:sym typeface="Arial"/>
              </a:defRPr>
            </a:pPr>
            <a:endParaRPr/>
          </a:p>
          <a:p>
            <a:pPr marL="0" indent="0" defTabSz="999718">
              <a:spcBef>
                <a:spcPts val="1800"/>
              </a:spcBef>
              <a:buSzTx/>
              <a:buNone/>
              <a:defRPr sz="1968" i="1">
                <a:latin typeface="Arial"/>
                <a:ea typeface="Arial"/>
                <a:cs typeface="Arial"/>
                <a:sym typeface="Arial"/>
              </a:defRPr>
            </a:pPr>
            <a:r>
              <a:t>more… ?</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4D12B-BC38-09B9-CF7C-5C73A0D0BE50}"/>
              </a:ext>
            </a:extLst>
          </p:cNvPr>
          <p:cNvSpPr>
            <a:spLocks noGrp="1"/>
          </p:cNvSpPr>
          <p:nvPr>
            <p:ph type="title"/>
          </p:nvPr>
        </p:nvSpPr>
        <p:spPr/>
        <p:txBody>
          <a:bodyPr/>
          <a:lstStyle/>
          <a:p>
            <a:r>
              <a:rPr lang="en-GB" dirty="0"/>
              <a:t>Additional questions…</a:t>
            </a:r>
          </a:p>
        </p:txBody>
      </p:sp>
    </p:spTree>
    <p:extLst>
      <p:ext uri="{BB962C8B-B14F-4D97-AF65-F5344CB8AC3E}">
        <p14:creationId xmlns:p14="http://schemas.microsoft.com/office/powerpoint/2010/main" val="2267904628"/>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8FC5C-4359-D099-6037-2CA610CD47E3}"/>
              </a:ext>
            </a:extLst>
          </p:cNvPr>
          <p:cNvSpPr>
            <a:spLocks noGrp="1"/>
          </p:cNvSpPr>
          <p:nvPr>
            <p:ph type="title"/>
          </p:nvPr>
        </p:nvSpPr>
        <p:spPr/>
        <p:txBody>
          <a:bodyPr/>
          <a:lstStyle/>
          <a:p>
            <a:r>
              <a:rPr lang="en-GB" dirty="0"/>
              <a:t>What makes a complete requirement?</a:t>
            </a:r>
          </a:p>
        </p:txBody>
      </p:sp>
      <p:sp>
        <p:nvSpPr>
          <p:cNvPr id="3" name="Text Placeholder 2">
            <a:extLst>
              <a:ext uri="{FF2B5EF4-FFF2-40B4-BE49-F238E27FC236}">
                <a16:creationId xmlns:a16="http://schemas.microsoft.com/office/drawing/2014/main" id="{30C2E3DF-B594-A4C3-45A7-D0DD412B265F}"/>
              </a:ext>
            </a:extLst>
          </p:cNvPr>
          <p:cNvSpPr>
            <a:spLocks noGrp="1"/>
          </p:cNvSpPr>
          <p:nvPr>
            <p:ph type="body" sz="quarter" idx="21"/>
          </p:nvPr>
        </p:nvSpPr>
        <p:spPr/>
        <p:txBody>
          <a:bodyPr/>
          <a:lstStyle/>
          <a:p>
            <a:endParaRPr lang="en-GB"/>
          </a:p>
        </p:txBody>
      </p:sp>
      <p:sp>
        <p:nvSpPr>
          <p:cNvPr id="4" name="Text Placeholder 3">
            <a:extLst>
              <a:ext uri="{FF2B5EF4-FFF2-40B4-BE49-F238E27FC236}">
                <a16:creationId xmlns:a16="http://schemas.microsoft.com/office/drawing/2014/main" id="{18767C9E-F95D-EA6F-B25C-7906C31A12C2}"/>
              </a:ext>
            </a:extLst>
          </p:cNvPr>
          <p:cNvSpPr>
            <a:spLocks noGrp="1"/>
          </p:cNvSpPr>
          <p:nvPr>
            <p:ph type="body" idx="1"/>
          </p:nvPr>
        </p:nvSpPr>
        <p:spPr/>
        <p:txBody>
          <a:bodyPr/>
          <a:lstStyle/>
          <a:p>
            <a:r>
              <a:rPr lang="en-GB" dirty="0"/>
              <a:t>Is a requirement complete without a event trigger</a:t>
            </a:r>
          </a:p>
        </p:txBody>
      </p:sp>
    </p:spTree>
    <p:extLst>
      <p:ext uri="{BB962C8B-B14F-4D97-AF65-F5344CB8AC3E}">
        <p14:creationId xmlns:p14="http://schemas.microsoft.com/office/powerpoint/2010/main" val="2917438241"/>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48141450-2387-4aca-b41f-19cd6be9dd3c}" enabled="1" method="Standard" siteId="{adf10e2b-b6e9-41d6-be2f-c12bb566019c}" removed="0"/>
</clbl:labelList>
</file>

<file path=docProps/app.xml><?xml version="1.0" encoding="utf-8"?>
<Properties xmlns="http://schemas.openxmlformats.org/officeDocument/2006/extended-properties" xmlns:vt="http://schemas.openxmlformats.org/officeDocument/2006/docPropsVTypes">
  <TotalTime>473</TotalTime>
  <Words>2502</Words>
  <Application>Microsoft Office PowerPoint</Application>
  <PresentationFormat>Custom</PresentationFormat>
  <Paragraphs>261</Paragraphs>
  <Slides>16</Slides>
  <Notes>13</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21_BasicWhite</vt:lpstr>
      <vt:lpstr>Formal representations of requirements</vt:lpstr>
      <vt:lpstr>Challenge in front of us?</vt:lpstr>
      <vt:lpstr>Why this matters</vt:lpstr>
      <vt:lpstr>How this aligns with our five key use cases</vt:lpstr>
      <vt:lpstr>The problem we are trying to solve</vt:lpstr>
      <vt:lpstr>A useful distinction: source requirement ≠ user task</vt:lpstr>
      <vt:lpstr>We may need to decompose requirements</vt:lpstr>
      <vt:lpstr>“Same” actually contains several different questions</vt:lpstr>
      <vt:lpstr>This changes how we should think about versioning</vt:lpstr>
      <vt:lpstr>We should not assume requirements need to be merged</vt:lpstr>
      <vt:lpstr>“Evidence” may mean much more than completing a task</vt:lpstr>
      <vt:lpstr>The role of the ontology</vt:lpstr>
      <vt:lpstr>A possible experiment?</vt:lpstr>
      <vt:lpstr>Questions we need to answer?</vt:lpstr>
      <vt:lpstr>Additional questions…</vt:lpstr>
      <vt:lpstr>What makes a complete requirement?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Sadler, Christopher Steven (DNV External)</cp:lastModifiedBy>
  <cp:revision>2</cp:revision>
  <dcterms:modified xsi:type="dcterms:W3CDTF">2026-08-21T07:37:23Z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umentInfoFinished">
    <vt:lpwstr>True</vt:lpwstr>
  </property>
</Properties>
</file>